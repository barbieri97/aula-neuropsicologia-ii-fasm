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0" r:id="rId2"/>
    <p:sldId id="363" r:id="rId3"/>
    <p:sldId id="401" r:id="rId4"/>
    <p:sldId id="402" r:id="rId5"/>
    <p:sldId id="366" r:id="rId6"/>
    <p:sldId id="403" r:id="rId7"/>
    <p:sldId id="404" r:id="rId8"/>
    <p:sldId id="405" r:id="rId9"/>
    <p:sldId id="1062" r:id="rId10"/>
    <p:sldId id="407" r:id="rId11"/>
    <p:sldId id="414" r:id="rId12"/>
    <p:sldId id="408" r:id="rId13"/>
    <p:sldId id="415" r:id="rId14"/>
    <p:sldId id="416" r:id="rId15"/>
    <p:sldId id="381" r:id="rId16"/>
    <p:sldId id="409" r:id="rId17"/>
    <p:sldId id="417" r:id="rId18"/>
    <p:sldId id="410" r:id="rId19"/>
    <p:sldId id="1066" r:id="rId20"/>
    <p:sldId id="1068" r:id="rId21"/>
    <p:sldId id="412" r:id="rId22"/>
    <p:sldId id="418" r:id="rId23"/>
    <p:sldId id="413" r:id="rId24"/>
    <p:sldId id="398" r:id="rId25"/>
    <p:sldId id="419" r:id="rId26"/>
    <p:sldId id="444" r:id="rId27"/>
    <p:sldId id="445" r:id="rId28"/>
    <p:sldId id="446" r:id="rId29"/>
    <p:sldId id="476" r:id="rId30"/>
    <p:sldId id="448" r:id="rId31"/>
    <p:sldId id="450" r:id="rId32"/>
    <p:sldId id="477" r:id="rId33"/>
    <p:sldId id="452" r:id="rId34"/>
    <p:sldId id="453" r:id="rId35"/>
    <p:sldId id="478" r:id="rId36"/>
    <p:sldId id="455" r:id="rId37"/>
    <p:sldId id="456" r:id="rId38"/>
    <p:sldId id="457" r:id="rId39"/>
    <p:sldId id="458" r:id="rId40"/>
    <p:sldId id="481" r:id="rId41"/>
    <p:sldId id="460" r:id="rId42"/>
    <p:sldId id="479" r:id="rId43"/>
    <p:sldId id="462" r:id="rId44"/>
    <p:sldId id="468" r:id="rId45"/>
    <p:sldId id="471" r:id="rId46"/>
    <p:sldId id="472" r:id="rId47"/>
    <p:sldId id="473" r:id="rId48"/>
    <p:sldId id="480" r:id="rId49"/>
    <p:sldId id="475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2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36BD0-1D76-B6F1-2070-B8C338F8E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6FC83F-478F-F5D2-A64C-27325EF12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169F74-0CC9-F7F0-D342-4EF3E3317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C537A1-DEB9-757F-0AD6-5F473462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77ED81-9FBA-EA9B-5C57-71F80EF5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282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7CF65-EC09-9674-DA6B-96FD7C634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36896-78FB-A7A7-B0FE-3F49F1C35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FED6F2-886F-4C1E-8EFE-89DD945D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55A061-2535-6A7F-D197-7B9E7D3F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963ED3-5EC4-BD62-5543-853BB2CC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81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B5BD8-956F-C896-4DC3-CE4FD5489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B8C708-7472-721D-1484-D0B49C3B0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006CA2-5716-3CC8-CC44-F6173E6A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7A058-5371-83BE-2B97-1A911D4E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D424B9-0681-AB80-ECE7-C3DA81017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33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83420-E61B-645B-BA57-2054E2950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87C8F2-8FA5-25ED-86CC-131FCB2E6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D86827-4DA9-39F5-6492-B5B531FC2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7070D7-2FB1-FE6C-E5CA-C91327534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D2456B-916E-CA63-F9EB-C492CFD22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19FDA0-219E-0A4D-8C92-B7170E117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29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28CCE-F630-EA02-BE30-C30B0958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EAD5E6-3CCC-FFAA-DD7A-1AEEDA653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FA9DF9-E309-6631-D7E7-E01678955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7DADEE-5355-761E-9D2E-2BA48CD33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66D3FCF-4A42-E9A4-F748-D7E24B6EF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B4172D7-EABF-3D60-F4EB-5282D53D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03A2CAD-14EC-F229-E1E5-D4C289EE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8A6880C-98AE-3E4D-9263-EF430961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159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B818B-9A0E-3997-C2FF-E1916F00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25AAD0-1530-388B-5EF0-91916ACB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7DF972-5446-E911-2380-A681F81FF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85288D-7B61-6476-F983-E325DD90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39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A9EC9F-3B78-CA4D-D75B-5C39DB66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1AB5ED-6512-AFE0-EE0D-C6243EC0D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1E4AC6-EBD3-C624-A649-70C92A14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585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949B7-54D4-8604-092C-8528E7D45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6EF5A4-6A2A-D089-1D9F-E6F50049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880D33-3FAB-6216-0033-EC432D218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71AE19-841A-E537-896D-99F3F196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734E4A-FB63-8220-B5C5-697652D4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9C0A6C-B6EC-722D-DD46-33E1496E1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00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8AFF0-15DE-6C72-D5EA-02E7960CC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F7F1A4-D8BB-335D-78E7-C81740195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7B6833-95AD-3CD1-3DE4-648D5644F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433645-F960-D800-F490-2165BC18C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6D9530-7E05-CA09-EE4E-F8F0F3060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6B3FA5-47B5-62EA-87F2-37B1092F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175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6C724-6836-4A9B-14A2-E67F9A44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76CF38-2CE4-0361-A4F2-3429988F7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038B1D-F8C5-A72F-2475-84B5B288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0FCF1C-EA9F-6B9C-0D4A-07DB5E4D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B4B453-8132-600E-2C25-FBF4CBBD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741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562F07-123E-60C8-142B-EEC6ABB4E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6AC524-2AE4-CBAB-50B1-F0C6541C6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9C668E-ED32-7101-7E24-6B466DDA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531757-23D2-ED6E-7E27-5C6EB15B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D49DB9-CD90-4CED-6D35-9B9EE150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086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FA5D172-E4D9-FAF0-230A-46B40D0D6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390A6A-3B96-C77F-6DA0-F4C997E00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109A5C-C6B4-7D7E-7982-57B714B7F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F696E-1932-49BD-AE47-E7C71BAE2F36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320FC8-0302-1F9B-722F-1B1352F7A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F1B2D-4A69-15F7-0502-F7D82FE89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BF649-F11E-435C-926F-2D7557AE9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723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762000"/>
            <a:ext cx="762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E8A33D"/>
                </a:solidFill>
              </a:rPr>
              <a:t>MÓDULO 1 · NEUROPSICOLOGIA II</a:t>
            </a:r>
          </a:p>
        </p:txBody>
      </p:sp>
      <p:sp>
        <p:nvSpPr>
          <p:cNvPr id="61" name="Numeral"/>
          <p:cNvSpPr txBox="1"/>
          <p:nvPr/>
        </p:nvSpPr>
        <p:spPr>
          <a:xfrm>
            <a:off x="457200" y="1270000"/>
            <a:ext cx="8890000" cy="1397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8800" b="1" dirty="0">
                <a:solidFill>
                  <a:srgbClr val="E8A33D"/>
                </a:solidFill>
              </a:rPr>
              <a:t>AULA 02</a:t>
            </a:r>
          </a:p>
        </p:txBody>
      </p:sp>
      <p:sp>
        <p:nvSpPr>
          <p:cNvPr id="62" name="Titulo"/>
          <p:cNvSpPr txBox="1"/>
          <p:nvPr/>
        </p:nvSpPr>
        <p:spPr>
          <a:xfrm>
            <a:off x="457200" y="2794000"/>
            <a:ext cx="10922000" cy="1143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3600" b="1" dirty="0">
                <a:solidFill>
                  <a:srgbClr val="FBF7F0"/>
                </a:solidFill>
              </a:rPr>
              <a:t>Modificações fisiológicas sistêmicas</a:t>
            </a:r>
          </a:p>
        </p:txBody>
      </p:sp>
      <p:sp>
        <p:nvSpPr>
          <p:cNvPr id="63" name="Linha"/>
          <p:cNvSpPr/>
          <p:nvPr/>
        </p:nvSpPr>
        <p:spPr>
          <a:xfrm>
            <a:off x="457200" y="4191000"/>
            <a:ext cx="1143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4" name="Subtitulo"/>
          <p:cNvSpPr txBox="1"/>
          <p:nvPr/>
        </p:nvSpPr>
        <p:spPr>
          <a:xfrm>
            <a:off x="457200" y="4445000"/>
            <a:ext cx="8890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8BBBC4"/>
                </a:solidFill>
              </a:rPr>
              <a:t>11/08 · Capítulo 2 — Malloy-Diniz, Fuentes &amp; Cosenza</a:t>
            </a:r>
          </a:p>
        </p:txBody>
      </p:sp>
    </p:spTree>
    <p:extLst>
      <p:ext uri="{BB962C8B-B14F-4D97-AF65-F5344CB8AC3E}">
        <p14:creationId xmlns:p14="http://schemas.microsoft.com/office/powerpoint/2010/main" val="376072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1016000" y="1143000"/>
            <a:ext cx="1016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E8A33D"/>
                </a:solidFill>
              </a:rPr>
              <a:t>PARA REFLETIR</a:t>
            </a:r>
          </a:p>
        </p:txBody>
      </p:sp>
      <p:sp>
        <p:nvSpPr>
          <p:cNvPr id="61" name="Pergunta"/>
          <p:cNvSpPr txBox="1"/>
          <p:nvPr/>
        </p:nvSpPr>
        <p:spPr>
          <a:xfrm>
            <a:off x="1016000" y="2032000"/>
            <a:ext cx="10160000" cy="228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3600" b="1" dirty="0">
                <a:solidFill>
                  <a:srgbClr val="FBF7F0"/>
                </a:solidFill>
              </a:rPr>
              <a:t>O corpo que envelhece muda o cérebro que pensa.</a:t>
            </a:r>
          </a:p>
        </p:txBody>
      </p:sp>
      <p:sp>
        <p:nvSpPr>
          <p:cNvPr id="62" name="Subtitulo"/>
          <p:cNvSpPr txBox="1"/>
          <p:nvPr/>
        </p:nvSpPr>
        <p:spPr>
          <a:xfrm>
            <a:off x="1016000" y="4572000"/>
            <a:ext cx="10160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600" dirty="0">
                <a:solidFill>
                  <a:srgbClr val="8BBBC4"/>
                </a:solidFill>
              </a:rPr>
              <a:t>Vamos entender como, ao longo desta aula.</a:t>
            </a:r>
          </a:p>
        </p:txBody>
      </p:sp>
    </p:spTree>
    <p:extLst>
      <p:ext uri="{BB962C8B-B14F-4D97-AF65-F5344CB8AC3E}">
        <p14:creationId xmlns:p14="http://schemas.microsoft.com/office/powerpoint/2010/main" val="280900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B8940-673B-9CD3-A166-8704CF749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Objetivos da aula</a:t>
            </a:r>
          </a:p>
        </p:txBody>
      </p:sp>
      <p:sp>
        <p:nvSpPr>
          <p:cNvPr id="70" name="Card0"/>
          <p:cNvSpPr/>
          <p:nvPr/>
        </p:nvSpPr>
        <p:spPr>
          <a:xfrm>
            <a:off x="457200" y="1397000"/>
            <a:ext cx="3454400" cy="431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71" name="Num0"/>
          <p:cNvSpPr txBox="1"/>
          <p:nvPr/>
        </p:nvSpPr>
        <p:spPr>
          <a:xfrm>
            <a:off x="711200" y="16510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E8A33D"/>
                </a:solidFill>
              </a:rPr>
              <a:t>01</a:t>
            </a:r>
          </a:p>
        </p:txBody>
      </p:sp>
      <p:sp>
        <p:nvSpPr>
          <p:cNvPr id="72" name="Txt0"/>
          <p:cNvSpPr txBox="1"/>
          <p:nvPr/>
        </p:nvSpPr>
        <p:spPr>
          <a:xfrm>
            <a:off x="711200" y="2540000"/>
            <a:ext cx="2946400" cy="279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Reconhecer</a:t>
            </a:r>
          </a:p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As principais alterações sistêmicas do envelhecimento</a:t>
            </a:r>
          </a:p>
        </p:txBody>
      </p:sp>
      <p:sp>
        <p:nvSpPr>
          <p:cNvPr id="73" name="Card1"/>
          <p:cNvSpPr/>
          <p:nvPr/>
        </p:nvSpPr>
        <p:spPr>
          <a:xfrm>
            <a:off x="4165600" y="1397000"/>
            <a:ext cx="3454400" cy="431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74" name="Num1"/>
          <p:cNvSpPr txBox="1"/>
          <p:nvPr/>
        </p:nvSpPr>
        <p:spPr>
          <a:xfrm>
            <a:off x="4419600" y="16510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E8A33D"/>
                </a:solidFill>
              </a:rPr>
              <a:t>02</a:t>
            </a:r>
          </a:p>
        </p:txBody>
      </p:sp>
      <p:sp>
        <p:nvSpPr>
          <p:cNvPr id="75" name="Txt1"/>
          <p:cNvSpPr txBox="1"/>
          <p:nvPr/>
        </p:nvSpPr>
        <p:spPr>
          <a:xfrm>
            <a:off x="4419600" y="2540000"/>
            <a:ext cx="2946400" cy="279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Relacionar</a:t>
            </a:r>
          </a:p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Comorbidades e desempenho cognitivo</a:t>
            </a:r>
          </a:p>
        </p:txBody>
      </p:sp>
      <p:sp>
        <p:nvSpPr>
          <p:cNvPr id="76" name="Card2"/>
          <p:cNvSpPr/>
          <p:nvPr/>
        </p:nvSpPr>
        <p:spPr>
          <a:xfrm>
            <a:off x="7874000" y="1397000"/>
            <a:ext cx="3454400" cy="431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77" name="Num2"/>
          <p:cNvSpPr txBox="1"/>
          <p:nvPr/>
        </p:nvSpPr>
        <p:spPr>
          <a:xfrm>
            <a:off x="8128000" y="16510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E8A33D"/>
                </a:solidFill>
              </a:rPr>
              <a:t>03</a:t>
            </a:r>
          </a:p>
        </p:txBody>
      </p:sp>
      <p:sp>
        <p:nvSpPr>
          <p:cNvPr id="78" name="Txt2"/>
          <p:cNvSpPr txBox="1"/>
          <p:nvPr/>
        </p:nvSpPr>
        <p:spPr>
          <a:xfrm>
            <a:off x="8128000" y="2540000"/>
            <a:ext cx="2946400" cy="279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Identificar</a:t>
            </a:r>
          </a:p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Polifarmácia como fator de risco cognitivo</a:t>
            </a:r>
          </a:p>
        </p:txBody>
      </p:sp>
      <p:sp>
        <p:nvSpPr>
          <p:cNvPr id="90" name="FooterLine"/>
          <p:cNvSpPr/>
          <p:nvPr/>
        </p:nvSpPr>
        <p:spPr>
          <a:xfrm>
            <a:off x="457200" y="6350000"/>
            <a:ext cx="11277600" cy="19050"/>
          </a:xfrm>
          <a:prstGeom prst="rect">
            <a:avLst/>
          </a:prstGeom>
          <a:solidFill>
            <a:srgbClr val="E7DFD2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91" name="FooterLeft"/>
          <p:cNvSpPr txBox="1"/>
          <p:nvPr/>
        </p:nvSpPr>
        <p:spPr>
          <a:xfrm>
            <a:off x="457200" y="6426200"/>
            <a:ext cx="596900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92" name="FooterRight"/>
          <p:cNvSpPr txBox="1"/>
          <p:nvPr/>
        </p:nvSpPr>
        <p:spPr>
          <a:xfrm>
            <a:off x="10464800" y="6426200"/>
            <a:ext cx="127000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11995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83875-C046-8484-E589-D4F2CA3E7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Roteiro da aula: os sistemas</a:t>
            </a:r>
          </a:p>
        </p:txBody>
      </p:sp>
      <p:sp>
        <p:nvSpPr>
          <p:cNvPr id="100" name="Card0"/>
          <p:cNvSpPr/>
          <p:nvPr/>
        </p:nvSpPr>
        <p:spPr>
          <a:xfrm>
            <a:off x="457200" y="1397000"/>
            <a:ext cx="35814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01" name="Circ0"/>
          <p:cNvSpPr/>
          <p:nvPr/>
        </p:nvSpPr>
        <p:spPr>
          <a:xfrm>
            <a:off x="1917700" y="1651000"/>
            <a:ext cx="660400" cy="6604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02" name="Num0"/>
          <p:cNvSpPr txBox="1"/>
          <p:nvPr/>
        </p:nvSpPr>
        <p:spPr>
          <a:xfrm>
            <a:off x="1917700" y="1651000"/>
            <a:ext cx="660400" cy="660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FBF7F0"/>
                </a:solidFill>
              </a:rPr>
              <a:t>01</a:t>
            </a:r>
          </a:p>
        </p:txBody>
      </p:sp>
      <p:sp>
        <p:nvSpPr>
          <p:cNvPr id="103" name="Lbl0"/>
          <p:cNvSpPr txBox="1"/>
          <p:nvPr/>
        </p:nvSpPr>
        <p:spPr>
          <a:xfrm>
            <a:off x="584200" y="2438400"/>
            <a:ext cx="33274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Cardiovascular</a:t>
            </a:r>
          </a:p>
        </p:txBody>
      </p:sp>
      <p:sp>
        <p:nvSpPr>
          <p:cNvPr id="3" name="Card1"/>
          <p:cNvSpPr/>
          <p:nvPr/>
        </p:nvSpPr>
        <p:spPr>
          <a:xfrm>
            <a:off x="4292600" y="1397000"/>
            <a:ext cx="35814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04" name="Circ1"/>
          <p:cNvSpPr/>
          <p:nvPr/>
        </p:nvSpPr>
        <p:spPr>
          <a:xfrm>
            <a:off x="5753100" y="1651000"/>
            <a:ext cx="660400" cy="6604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05" name="Num1"/>
          <p:cNvSpPr txBox="1"/>
          <p:nvPr/>
        </p:nvSpPr>
        <p:spPr>
          <a:xfrm>
            <a:off x="5753100" y="1651000"/>
            <a:ext cx="660400" cy="660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FBF7F0"/>
                </a:solidFill>
              </a:rPr>
              <a:t>02</a:t>
            </a:r>
          </a:p>
        </p:txBody>
      </p:sp>
      <p:sp>
        <p:nvSpPr>
          <p:cNvPr id="106" name="Lbl1"/>
          <p:cNvSpPr txBox="1"/>
          <p:nvPr/>
        </p:nvSpPr>
        <p:spPr>
          <a:xfrm>
            <a:off x="4419600" y="2438400"/>
            <a:ext cx="33274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Respiratório</a:t>
            </a:r>
          </a:p>
        </p:txBody>
      </p:sp>
      <p:sp>
        <p:nvSpPr>
          <p:cNvPr id="4" name="Card2"/>
          <p:cNvSpPr/>
          <p:nvPr/>
        </p:nvSpPr>
        <p:spPr>
          <a:xfrm>
            <a:off x="8128000" y="1397000"/>
            <a:ext cx="35814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07" name="Circ2"/>
          <p:cNvSpPr/>
          <p:nvPr/>
        </p:nvSpPr>
        <p:spPr>
          <a:xfrm>
            <a:off x="9588500" y="1651000"/>
            <a:ext cx="660400" cy="6604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08" name="Num2"/>
          <p:cNvSpPr txBox="1"/>
          <p:nvPr/>
        </p:nvSpPr>
        <p:spPr>
          <a:xfrm>
            <a:off x="9588500" y="1651000"/>
            <a:ext cx="660400" cy="660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FBF7F0"/>
                </a:solidFill>
              </a:rPr>
              <a:t>03</a:t>
            </a:r>
          </a:p>
        </p:txBody>
      </p:sp>
      <p:sp>
        <p:nvSpPr>
          <p:cNvPr id="109" name="Lbl2"/>
          <p:cNvSpPr txBox="1"/>
          <p:nvPr/>
        </p:nvSpPr>
        <p:spPr>
          <a:xfrm>
            <a:off x="8255000" y="2438400"/>
            <a:ext cx="33274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Renal</a:t>
            </a:r>
          </a:p>
        </p:txBody>
      </p:sp>
      <p:sp>
        <p:nvSpPr>
          <p:cNvPr id="5" name="Card3"/>
          <p:cNvSpPr/>
          <p:nvPr/>
        </p:nvSpPr>
        <p:spPr>
          <a:xfrm>
            <a:off x="457200" y="3556000"/>
            <a:ext cx="35814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0" name="Circ3"/>
          <p:cNvSpPr/>
          <p:nvPr/>
        </p:nvSpPr>
        <p:spPr>
          <a:xfrm>
            <a:off x="1917700" y="3810000"/>
            <a:ext cx="660400" cy="6604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11" name="Num3"/>
          <p:cNvSpPr txBox="1"/>
          <p:nvPr/>
        </p:nvSpPr>
        <p:spPr>
          <a:xfrm>
            <a:off x="1917700" y="3810000"/>
            <a:ext cx="660400" cy="660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FBF7F0"/>
                </a:solidFill>
              </a:rPr>
              <a:t>04</a:t>
            </a:r>
          </a:p>
        </p:txBody>
      </p:sp>
      <p:sp>
        <p:nvSpPr>
          <p:cNvPr id="112" name="Lbl3"/>
          <p:cNvSpPr txBox="1"/>
          <p:nvPr/>
        </p:nvSpPr>
        <p:spPr>
          <a:xfrm>
            <a:off x="584200" y="4597400"/>
            <a:ext cx="33274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Endócrino</a:t>
            </a:r>
          </a:p>
        </p:txBody>
      </p:sp>
      <p:sp>
        <p:nvSpPr>
          <p:cNvPr id="6" name="Card4"/>
          <p:cNvSpPr/>
          <p:nvPr/>
        </p:nvSpPr>
        <p:spPr>
          <a:xfrm>
            <a:off x="4292600" y="3556000"/>
            <a:ext cx="35814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3" name="Circ4"/>
          <p:cNvSpPr/>
          <p:nvPr/>
        </p:nvSpPr>
        <p:spPr>
          <a:xfrm>
            <a:off x="5753100" y="3810000"/>
            <a:ext cx="660400" cy="6604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14" name="Num4"/>
          <p:cNvSpPr txBox="1"/>
          <p:nvPr/>
        </p:nvSpPr>
        <p:spPr>
          <a:xfrm>
            <a:off x="5753100" y="3810000"/>
            <a:ext cx="660400" cy="660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FBF7F0"/>
                </a:solidFill>
              </a:rPr>
              <a:t>05</a:t>
            </a:r>
          </a:p>
        </p:txBody>
      </p:sp>
      <p:sp>
        <p:nvSpPr>
          <p:cNvPr id="115" name="Lbl4"/>
          <p:cNvSpPr txBox="1"/>
          <p:nvPr/>
        </p:nvSpPr>
        <p:spPr>
          <a:xfrm>
            <a:off x="4419600" y="4597400"/>
            <a:ext cx="33274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Musculoesquelético</a:t>
            </a:r>
          </a:p>
        </p:txBody>
      </p:sp>
      <p:sp>
        <p:nvSpPr>
          <p:cNvPr id="7" name="Card5"/>
          <p:cNvSpPr/>
          <p:nvPr/>
        </p:nvSpPr>
        <p:spPr>
          <a:xfrm>
            <a:off x="8128000" y="3556000"/>
            <a:ext cx="35814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6" name="Circ5"/>
          <p:cNvSpPr/>
          <p:nvPr/>
        </p:nvSpPr>
        <p:spPr>
          <a:xfrm>
            <a:off x="9588500" y="3810000"/>
            <a:ext cx="660400" cy="6604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17" name="Num5"/>
          <p:cNvSpPr txBox="1"/>
          <p:nvPr/>
        </p:nvSpPr>
        <p:spPr>
          <a:xfrm>
            <a:off x="9588500" y="3810000"/>
            <a:ext cx="660400" cy="660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FBF7F0"/>
                </a:solidFill>
              </a:rPr>
              <a:t>06</a:t>
            </a:r>
          </a:p>
        </p:txBody>
      </p:sp>
      <p:sp>
        <p:nvSpPr>
          <p:cNvPr id="118" name="Lbl5"/>
          <p:cNvSpPr txBox="1"/>
          <p:nvPr/>
        </p:nvSpPr>
        <p:spPr>
          <a:xfrm>
            <a:off x="8255000" y="4597400"/>
            <a:ext cx="33274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Sensorial</a:t>
            </a:r>
          </a:p>
        </p:txBody>
      </p:sp>
      <p:sp>
        <p:nvSpPr>
          <p:cNvPr id="140" name="FooterLine"/>
          <p:cNvSpPr/>
          <p:nvPr/>
        </p:nvSpPr>
        <p:spPr>
          <a:xfrm>
            <a:off x="457200" y="6350000"/>
            <a:ext cx="11277600" cy="1905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41" name="FooterLeft"/>
          <p:cNvSpPr txBox="1"/>
          <p:nvPr/>
        </p:nvSpPr>
        <p:spPr>
          <a:xfrm>
            <a:off x="457200" y="6426200"/>
            <a:ext cx="596900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142" name="FooterRight"/>
          <p:cNvSpPr txBox="1"/>
          <p:nvPr/>
        </p:nvSpPr>
        <p:spPr>
          <a:xfrm>
            <a:off x="10464800" y="6426200"/>
            <a:ext cx="127000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9426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Eyebrow"/>
          <p:cNvSpPr txBox="1"/>
          <p:nvPr/>
        </p:nvSpPr>
        <p:spPr>
          <a:xfrm>
            <a:off x="457200" y="889000"/>
            <a:ext cx="762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E8A33D"/>
                </a:solidFill>
              </a:rPr>
              <a:t>CONCEITO-ÂNCORA</a:t>
            </a:r>
          </a:p>
        </p:txBody>
      </p:sp>
      <p:sp>
        <p:nvSpPr>
          <p:cNvPr id="51" name="QuoteMark"/>
          <p:cNvSpPr txBox="1"/>
          <p:nvPr/>
        </p:nvSpPr>
        <p:spPr>
          <a:xfrm>
            <a:off x="457200" y="1460500"/>
            <a:ext cx="1143000" cy="1143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7200" b="1" dirty="0">
                <a:solidFill>
                  <a:srgbClr val="E8A33D"/>
                </a:solidFill>
              </a:rPr>
              <a:t>“</a:t>
            </a:r>
          </a:p>
        </p:txBody>
      </p:sp>
      <p:sp>
        <p:nvSpPr>
          <p:cNvPr id="52" name="QuoteText"/>
          <p:cNvSpPr txBox="1"/>
          <p:nvPr/>
        </p:nvSpPr>
        <p:spPr>
          <a:xfrm>
            <a:off x="762000" y="2413000"/>
            <a:ext cx="10668000" cy="228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2600" b="1" i="1" dirty="0">
                <a:solidFill>
                  <a:srgbClr val="FBF7F0"/>
                </a:solidFill>
              </a:rPr>
              <a:t>Senescência sistêmica: declínio progressivo da reserva funcional dos órgãos, reduzindo a capacidade de resposta a estressores.</a:t>
            </a:r>
          </a:p>
        </p:txBody>
      </p:sp>
      <p:sp>
        <p:nvSpPr>
          <p:cNvPr id="53" name="Attribution"/>
          <p:cNvSpPr txBox="1"/>
          <p:nvPr/>
        </p:nvSpPr>
        <p:spPr>
          <a:xfrm>
            <a:off x="762000" y="5080000"/>
            <a:ext cx="889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8BBBC4"/>
                </a:solidFill>
              </a:rPr>
              <a:t>— Conceito-âncora, capítulo 2</a:t>
            </a:r>
          </a:p>
        </p:txBody>
      </p:sp>
      <p:sp>
        <p:nvSpPr>
          <p:cNvPr id="90" name="FooterLine"/>
          <p:cNvSpPr/>
          <p:nvPr/>
        </p:nvSpPr>
        <p:spPr>
          <a:xfrm>
            <a:off x="457200" y="6350000"/>
            <a:ext cx="11277600" cy="19050"/>
          </a:xfrm>
          <a:prstGeom prst="rect">
            <a:avLst/>
          </a:prstGeom>
          <a:solidFill>
            <a:srgbClr val="2D5A68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91" name="FooterLeft"/>
          <p:cNvSpPr txBox="1"/>
          <p:nvPr/>
        </p:nvSpPr>
        <p:spPr>
          <a:xfrm>
            <a:off x="457200" y="6426200"/>
            <a:ext cx="596900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8BBBC4"/>
                </a:solidFill>
              </a:rPr>
              <a:t>Neuropsicologia II · Aula 02 — Modificações fisiológicas</a:t>
            </a:r>
          </a:p>
        </p:txBody>
      </p:sp>
      <p:sp>
        <p:nvSpPr>
          <p:cNvPr id="92" name="FooterRight"/>
          <p:cNvSpPr txBox="1"/>
          <p:nvPr/>
        </p:nvSpPr>
        <p:spPr>
          <a:xfrm>
            <a:off x="10464800" y="6426200"/>
            <a:ext cx="127000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FBF7F0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007543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02009-BF62-0546-8E70-13255E901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Três princípios da senescência sistêmica</a:t>
            </a:r>
          </a:p>
        </p:txBody>
      </p:sp>
      <p:sp>
        <p:nvSpPr>
          <p:cNvPr id="60" name="Num0"/>
          <p:cNvSpPr txBox="1"/>
          <p:nvPr/>
        </p:nvSpPr>
        <p:spPr>
          <a:xfrm>
            <a:off x="457200" y="1651000"/>
            <a:ext cx="3759200" cy="127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6000" b="1" dirty="0">
                <a:solidFill>
                  <a:srgbClr val="0F4C5C"/>
                </a:solidFill>
              </a:rPr>
              <a:t>01</a:t>
            </a:r>
          </a:p>
        </p:txBody>
      </p:sp>
      <p:sp>
        <p:nvSpPr>
          <p:cNvPr id="61" name="Line0"/>
          <p:cNvSpPr/>
          <p:nvPr/>
        </p:nvSpPr>
        <p:spPr>
          <a:xfrm>
            <a:off x="1397000" y="3048000"/>
            <a:ext cx="18796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2" name="Titulo0"/>
          <p:cNvSpPr txBox="1"/>
          <p:nvPr/>
        </p:nvSpPr>
        <p:spPr>
          <a:xfrm>
            <a:off x="584200" y="3238500"/>
            <a:ext cx="35052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17262B"/>
                </a:solidFill>
              </a:rPr>
              <a:t>Perda de reserva</a:t>
            </a:r>
          </a:p>
        </p:txBody>
      </p:sp>
      <p:sp>
        <p:nvSpPr>
          <p:cNvPr id="63" name="Exp0"/>
          <p:cNvSpPr txBox="1"/>
          <p:nvPr/>
        </p:nvSpPr>
        <p:spPr>
          <a:xfrm>
            <a:off x="660400" y="3937000"/>
            <a:ext cx="3352800" cy="177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dirty="0">
                <a:solidFill>
                  <a:srgbClr val="5B8A9A"/>
                </a:solidFill>
              </a:rPr>
              <a:t>Menor capacidade funcional de reserva homeostática</a:t>
            </a:r>
          </a:p>
        </p:txBody>
      </p:sp>
      <p:sp>
        <p:nvSpPr>
          <p:cNvPr id="64" name="Num1"/>
          <p:cNvSpPr txBox="1"/>
          <p:nvPr/>
        </p:nvSpPr>
        <p:spPr>
          <a:xfrm>
            <a:off x="4216400" y="1651000"/>
            <a:ext cx="3759200" cy="127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6000" b="1" dirty="0">
                <a:solidFill>
                  <a:srgbClr val="0F4C5C"/>
                </a:solidFill>
              </a:rPr>
              <a:t>02</a:t>
            </a:r>
          </a:p>
        </p:txBody>
      </p:sp>
      <p:sp>
        <p:nvSpPr>
          <p:cNvPr id="65" name="Line1"/>
          <p:cNvSpPr/>
          <p:nvPr/>
        </p:nvSpPr>
        <p:spPr>
          <a:xfrm>
            <a:off x="5156200" y="3048000"/>
            <a:ext cx="18796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6" name="Titulo1"/>
          <p:cNvSpPr txBox="1"/>
          <p:nvPr/>
        </p:nvSpPr>
        <p:spPr>
          <a:xfrm>
            <a:off x="4343400" y="3238500"/>
            <a:ext cx="35052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17262B"/>
                </a:solidFill>
              </a:rPr>
              <a:t>Vulnerabilidade</a:t>
            </a:r>
          </a:p>
        </p:txBody>
      </p:sp>
      <p:sp>
        <p:nvSpPr>
          <p:cNvPr id="67" name="Exp1"/>
          <p:cNvSpPr txBox="1"/>
          <p:nvPr/>
        </p:nvSpPr>
        <p:spPr>
          <a:xfrm>
            <a:off x="4419600" y="3937000"/>
            <a:ext cx="3352800" cy="177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dirty="0">
                <a:solidFill>
                  <a:srgbClr val="5B8A9A"/>
                </a:solidFill>
              </a:rPr>
              <a:t>Maior sensibilidade a estressores físicos e psicológicos</a:t>
            </a:r>
          </a:p>
        </p:txBody>
      </p:sp>
      <p:sp>
        <p:nvSpPr>
          <p:cNvPr id="68" name="Num2"/>
          <p:cNvSpPr txBox="1"/>
          <p:nvPr/>
        </p:nvSpPr>
        <p:spPr>
          <a:xfrm>
            <a:off x="7975600" y="1651000"/>
            <a:ext cx="3759200" cy="127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6000" b="1" dirty="0">
                <a:solidFill>
                  <a:srgbClr val="0F4C5C"/>
                </a:solidFill>
              </a:rPr>
              <a:t>03</a:t>
            </a:r>
          </a:p>
        </p:txBody>
      </p:sp>
      <p:sp>
        <p:nvSpPr>
          <p:cNvPr id="69" name="Line2"/>
          <p:cNvSpPr/>
          <p:nvPr/>
        </p:nvSpPr>
        <p:spPr>
          <a:xfrm>
            <a:off x="8915400" y="3048000"/>
            <a:ext cx="18796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70" name="Titulo2"/>
          <p:cNvSpPr txBox="1"/>
          <p:nvPr/>
        </p:nvSpPr>
        <p:spPr>
          <a:xfrm>
            <a:off x="8102600" y="3238500"/>
            <a:ext cx="35052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17262B"/>
                </a:solidFill>
              </a:rPr>
              <a:t>Heterogeneidade</a:t>
            </a:r>
          </a:p>
        </p:txBody>
      </p:sp>
      <p:sp>
        <p:nvSpPr>
          <p:cNvPr id="71" name="Exp2"/>
          <p:cNvSpPr txBox="1"/>
          <p:nvPr/>
        </p:nvSpPr>
        <p:spPr>
          <a:xfrm>
            <a:off x="8178800" y="3937000"/>
            <a:ext cx="3352800" cy="177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dirty="0">
                <a:solidFill>
                  <a:srgbClr val="5B8A9A"/>
                </a:solidFill>
              </a:rPr>
              <a:t>Ritmo de declínio varia muito entre órgãos e pessoas</a:t>
            </a:r>
          </a:p>
        </p:txBody>
      </p:sp>
      <p:sp>
        <p:nvSpPr>
          <p:cNvPr id="90" name="FooterLine"/>
          <p:cNvSpPr/>
          <p:nvPr/>
        </p:nvSpPr>
        <p:spPr>
          <a:xfrm>
            <a:off x="457200" y="6350000"/>
            <a:ext cx="11277600" cy="1905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91" name="FooterLeft"/>
          <p:cNvSpPr txBox="1"/>
          <p:nvPr/>
        </p:nvSpPr>
        <p:spPr>
          <a:xfrm>
            <a:off x="457200" y="6426200"/>
            <a:ext cx="596900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92" name="FooterRight"/>
          <p:cNvSpPr txBox="1"/>
          <p:nvPr/>
        </p:nvSpPr>
        <p:spPr>
          <a:xfrm>
            <a:off x="10464800" y="6426200"/>
            <a:ext cx="127000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373435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2D2F4-FF04-D1FB-0C6A-12C2E8353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Sistema cardiovascular</a:t>
            </a:r>
          </a:p>
        </p:txBody>
      </p:sp>
      <p:sp>
        <p:nvSpPr>
          <p:cNvPr id="110" name="Num0"/>
          <p:cNvSpPr txBox="1"/>
          <p:nvPr/>
        </p:nvSpPr>
        <p:spPr>
          <a:xfrm>
            <a:off x="457200" y="1498600"/>
            <a:ext cx="635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01</a:t>
            </a:r>
          </a:p>
        </p:txBody>
      </p:sp>
      <p:sp>
        <p:nvSpPr>
          <p:cNvPr id="120" name="Titulo0"/>
          <p:cNvSpPr txBox="1"/>
          <p:nvPr/>
        </p:nvSpPr>
        <p:spPr>
          <a:xfrm>
            <a:off x="1270000" y="1498600"/>
            <a:ext cx="3556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Rigidez arterial</a:t>
            </a:r>
          </a:p>
        </p:txBody>
      </p:sp>
      <p:sp>
        <p:nvSpPr>
          <p:cNvPr id="130" name="Desc0"/>
          <p:cNvSpPr txBox="1"/>
          <p:nvPr/>
        </p:nvSpPr>
        <p:spPr>
          <a:xfrm>
            <a:off x="4978400" y="1498600"/>
            <a:ext cx="6731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As paredes dos vasos perdem elasticidade com a idade</a:t>
            </a:r>
          </a:p>
        </p:txBody>
      </p:sp>
      <p:sp>
        <p:nvSpPr>
          <p:cNvPr id="101" name="Sep1"/>
          <p:cNvSpPr/>
          <p:nvPr/>
        </p:nvSpPr>
        <p:spPr>
          <a:xfrm>
            <a:off x="457200" y="254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1" name="Num1"/>
          <p:cNvSpPr txBox="1"/>
          <p:nvPr/>
        </p:nvSpPr>
        <p:spPr>
          <a:xfrm>
            <a:off x="457200" y="2641600"/>
            <a:ext cx="635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02</a:t>
            </a:r>
          </a:p>
        </p:txBody>
      </p:sp>
      <p:sp>
        <p:nvSpPr>
          <p:cNvPr id="121" name="Titulo1"/>
          <p:cNvSpPr txBox="1"/>
          <p:nvPr/>
        </p:nvSpPr>
        <p:spPr>
          <a:xfrm>
            <a:off x="1270000" y="2641600"/>
            <a:ext cx="3556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↑ Pressão sistólica</a:t>
            </a:r>
          </a:p>
        </p:txBody>
      </p:sp>
      <p:sp>
        <p:nvSpPr>
          <p:cNvPr id="131" name="Desc1"/>
          <p:cNvSpPr txBox="1"/>
          <p:nvPr/>
        </p:nvSpPr>
        <p:spPr>
          <a:xfrm>
            <a:off x="4978400" y="2641600"/>
            <a:ext cx="6731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Maior resistência ao fluxo sanguíneo</a:t>
            </a:r>
          </a:p>
        </p:txBody>
      </p:sp>
      <p:sp>
        <p:nvSpPr>
          <p:cNvPr id="102" name="Sep2"/>
          <p:cNvSpPr/>
          <p:nvPr/>
        </p:nvSpPr>
        <p:spPr>
          <a:xfrm>
            <a:off x="457200" y="3683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2" name="Num2"/>
          <p:cNvSpPr txBox="1"/>
          <p:nvPr/>
        </p:nvSpPr>
        <p:spPr>
          <a:xfrm>
            <a:off x="457200" y="3784600"/>
            <a:ext cx="635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03</a:t>
            </a:r>
          </a:p>
        </p:txBody>
      </p:sp>
      <p:sp>
        <p:nvSpPr>
          <p:cNvPr id="122" name="Titulo2"/>
          <p:cNvSpPr txBox="1"/>
          <p:nvPr/>
        </p:nvSpPr>
        <p:spPr>
          <a:xfrm>
            <a:off x="1270000" y="3784600"/>
            <a:ext cx="3556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↓ Débito cardíaco máximo</a:t>
            </a:r>
          </a:p>
        </p:txBody>
      </p:sp>
      <p:sp>
        <p:nvSpPr>
          <p:cNvPr id="132" name="Desc2"/>
          <p:cNvSpPr txBox="1"/>
          <p:nvPr/>
        </p:nvSpPr>
        <p:spPr>
          <a:xfrm>
            <a:off x="4978400" y="3784600"/>
            <a:ext cx="6731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Menor capacidade de resposta ao esforço físico</a:t>
            </a:r>
          </a:p>
        </p:txBody>
      </p:sp>
      <p:sp>
        <p:nvSpPr>
          <p:cNvPr id="103" name="Sep3"/>
          <p:cNvSpPr/>
          <p:nvPr/>
        </p:nvSpPr>
        <p:spPr>
          <a:xfrm>
            <a:off x="457200" y="4826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3" name="Num3"/>
          <p:cNvSpPr txBox="1"/>
          <p:nvPr/>
        </p:nvSpPr>
        <p:spPr>
          <a:xfrm>
            <a:off x="457200" y="4927600"/>
            <a:ext cx="635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04</a:t>
            </a:r>
          </a:p>
        </p:txBody>
      </p:sp>
      <p:sp>
        <p:nvSpPr>
          <p:cNvPr id="123" name="Titulo3"/>
          <p:cNvSpPr txBox="1"/>
          <p:nvPr/>
        </p:nvSpPr>
        <p:spPr>
          <a:xfrm>
            <a:off x="1270000" y="4927600"/>
            <a:ext cx="3556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Perfusão cerebral</a:t>
            </a:r>
          </a:p>
        </p:txBody>
      </p:sp>
      <p:sp>
        <p:nvSpPr>
          <p:cNvPr id="133" name="Desc3"/>
          <p:cNvSpPr txBox="1"/>
          <p:nvPr/>
        </p:nvSpPr>
        <p:spPr>
          <a:xfrm>
            <a:off x="4978400" y="4927600"/>
            <a:ext cx="6731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Redução do fluxo sanguíneo que chega ao cérebro</a:t>
            </a:r>
          </a:p>
        </p:txBody>
      </p:sp>
      <p:sp>
        <p:nvSpPr>
          <p:cNvPr id="20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0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0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653370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EDC56-F0F9-3C31-A955-8C81A420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Sistemas respiratório e renal</a:t>
            </a:r>
          </a:p>
        </p:txBody>
      </p:sp>
      <p:sp>
        <p:nvSpPr>
          <p:cNvPr id="110" name="Num0"/>
          <p:cNvSpPr txBox="1"/>
          <p:nvPr/>
        </p:nvSpPr>
        <p:spPr>
          <a:xfrm>
            <a:off x="457200" y="1498600"/>
            <a:ext cx="635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01</a:t>
            </a:r>
          </a:p>
        </p:txBody>
      </p:sp>
      <p:sp>
        <p:nvSpPr>
          <p:cNvPr id="120" name="Titulo0"/>
          <p:cNvSpPr txBox="1"/>
          <p:nvPr/>
        </p:nvSpPr>
        <p:spPr>
          <a:xfrm>
            <a:off x="1270000" y="1498600"/>
            <a:ext cx="3556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↓ Capacidade pulmonar</a:t>
            </a:r>
          </a:p>
        </p:txBody>
      </p:sp>
      <p:sp>
        <p:nvSpPr>
          <p:cNvPr id="130" name="Desc0"/>
          <p:cNvSpPr txBox="1"/>
          <p:nvPr/>
        </p:nvSpPr>
        <p:spPr>
          <a:xfrm>
            <a:off x="4978400" y="1498600"/>
            <a:ext cx="6731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Menor volume respiratório e trocas gasosas</a:t>
            </a:r>
          </a:p>
        </p:txBody>
      </p:sp>
      <p:sp>
        <p:nvSpPr>
          <p:cNvPr id="101" name="Sep1"/>
          <p:cNvSpPr/>
          <p:nvPr/>
        </p:nvSpPr>
        <p:spPr>
          <a:xfrm>
            <a:off x="457200" y="254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1" name="Num1"/>
          <p:cNvSpPr txBox="1"/>
          <p:nvPr/>
        </p:nvSpPr>
        <p:spPr>
          <a:xfrm>
            <a:off x="457200" y="2641600"/>
            <a:ext cx="635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02</a:t>
            </a:r>
          </a:p>
        </p:txBody>
      </p:sp>
      <p:sp>
        <p:nvSpPr>
          <p:cNvPr id="121" name="Titulo1"/>
          <p:cNvSpPr txBox="1"/>
          <p:nvPr/>
        </p:nvSpPr>
        <p:spPr>
          <a:xfrm>
            <a:off x="1270000" y="2641600"/>
            <a:ext cx="3556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↓ Elasticidade torácica</a:t>
            </a:r>
          </a:p>
        </p:txBody>
      </p:sp>
      <p:sp>
        <p:nvSpPr>
          <p:cNvPr id="131" name="Desc1"/>
          <p:cNvSpPr txBox="1"/>
          <p:nvPr/>
        </p:nvSpPr>
        <p:spPr>
          <a:xfrm>
            <a:off x="4978400" y="2641600"/>
            <a:ext cx="6731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Menor eficiência ventilatória</a:t>
            </a:r>
          </a:p>
        </p:txBody>
      </p:sp>
      <p:sp>
        <p:nvSpPr>
          <p:cNvPr id="102" name="Sep2"/>
          <p:cNvSpPr/>
          <p:nvPr/>
        </p:nvSpPr>
        <p:spPr>
          <a:xfrm>
            <a:off x="457200" y="3683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2" name="Num2"/>
          <p:cNvSpPr txBox="1"/>
          <p:nvPr/>
        </p:nvSpPr>
        <p:spPr>
          <a:xfrm>
            <a:off x="457200" y="3784600"/>
            <a:ext cx="635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03</a:t>
            </a:r>
          </a:p>
        </p:txBody>
      </p:sp>
      <p:sp>
        <p:nvSpPr>
          <p:cNvPr id="122" name="Titulo2"/>
          <p:cNvSpPr txBox="1"/>
          <p:nvPr/>
        </p:nvSpPr>
        <p:spPr>
          <a:xfrm>
            <a:off x="1270000" y="3784600"/>
            <a:ext cx="3556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↓ Filtração glomerular</a:t>
            </a:r>
          </a:p>
        </p:txBody>
      </p:sp>
      <p:sp>
        <p:nvSpPr>
          <p:cNvPr id="132" name="Desc2"/>
          <p:cNvSpPr txBox="1"/>
          <p:nvPr/>
        </p:nvSpPr>
        <p:spPr>
          <a:xfrm>
            <a:off x="4978400" y="3784600"/>
            <a:ext cx="6731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Rins filtram o sangue com menor eficiência</a:t>
            </a:r>
          </a:p>
        </p:txBody>
      </p:sp>
      <p:sp>
        <p:nvSpPr>
          <p:cNvPr id="103" name="Sep3"/>
          <p:cNvSpPr/>
          <p:nvPr/>
        </p:nvSpPr>
        <p:spPr>
          <a:xfrm>
            <a:off x="457200" y="4826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3" name="Num3"/>
          <p:cNvSpPr txBox="1"/>
          <p:nvPr/>
        </p:nvSpPr>
        <p:spPr>
          <a:xfrm>
            <a:off x="457200" y="4927600"/>
            <a:ext cx="635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04</a:t>
            </a:r>
          </a:p>
        </p:txBody>
      </p:sp>
      <p:sp>
        <p:nvSpPr>
          <p:cNvPr id="123" name="Titulo3"/>
          <p:cNvSpPr txBox="1"/>
          <p:nvPr/>
        </p:nvSpPr>
        <p:spPr>
          <a:xfrm>
            <a:off x="1270000" y="4927600"/>
            <a:ext cx="3556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Metabolismo de fármacos</a:t>
            </a:r>
          </a:p>
        </p:txBody>
      </p:sp>
      <p:sp>
        <p:nvSpPr>
          <p:cNvPr id="133" name="Desc3"/>
          <p:cNvSpPr txBox="1"/>
          <p:nvPr/>
        </p:nvSpPr>
        <p:spPr>
          <a:xfrm>
            <a:off x="4978400" y="4927600"/>
            <a:ext cx="6731000" cy="939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Depuração renal mais lenta altera dosagens</a:t>
            </a:r>
          </a:p>
        </p:txBody>
      </p:sp>
      <p:sp>
        <p:nvSpPr>
          <p:cNvPr id="20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0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0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13349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51B1A-7677-627A-4250-45BDEF3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Sistema endócrino</a:t>
            </a:r>
          </a:p>
        </p:txBody>
      </p:sp>
      <p:sp>
        <p:nvSpPr>
          <p:cNvPr id="100" name="IconBg0"/>
          <p:cNvSpPr/>
          <p:nvPr/>
        </p:nvSpPr>
        <p:spPr>
          <a:xfrm>
            <a:off x="457200" y="1333500"/>
            <a:ext cx="889000" cy="889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0" name="Titulo0"/>
          <p:cNvSpPr txBox="1"/>
          <p:nvPr/>
        </p:nvSpPr>
        <p:spPr>
          <a:xfrm>
            <a:off x="1651000" y="1409700"/>
            <a:ext cx="3556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Menopausa / andropausa</a:t>
            </a:r>
          </a:p>
        </p:txBody>
      </p:sp>
      <p:sp>
        <p:nvSpPr>
          <p:cNvPr id="130" name="Desc0"/>
          <p:cNvSpPr txBox="1"/>
          <p:nvPr/>
        </p:nvSpPr>
        <p:spPr>
          <a:xfrm>
            <a:off x="1651000" y="1816100"/>
            <a:ext cx="9652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Queda de hormônios sexuais</a:t>
            </a:r>
          </a:p>
        </p:txBody>
      </p:sp>
      <p:sp>
        <p:nvSpPr>
          <p:cNvPr id="101" name="IconBg1"/>
          <p:cNvSpPr/>
          <p:nvPr/>
        </p:nvSpPr>
        <p:spPr>
          <a:xfrm>
            <a:off x="457200" y="2552700"/>
            <a:ext cx="889000" cy="889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1" name="Titulo1"/>
          <p:cNvSpPr txBox="1"/>
          <p:nvPr/>
        </p:nvSpPr>
        <p:spPr>
          <a:xfrm>
            <a:off x="1651000" y="2628900"/>
            <a:ext cx="3556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↓ Hormônios anabólicos</a:t>
            </a:r>
          </a:p>
        </p:txBody>
      </p:sp>
      <p:sp>
        <p:nvSpPr>
          <p:cNvPr id="131" name="Desc1"/>
          <p:cNvSpPr txBox="1"/>
          <p:nvPr/>
        </p:nvSpPr>
        <p:spPr>
          <a:xfrm>
            <a:off x="1651000" y="3035300"/>
            <a:ext cx="9652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Redução geral de hormônios de crescimento e reparo</a:t>
            </a:r>
          </a:p>
        </p:txBody>
      </p:sp>
      <p:sp>
        <p:nvSpPr>
          <p:cNvPr id="102" name="IconBg2"/>
          <p:cNvSpPr/>
          <p:nvPr/>
        </p:nvSpPr>
        <p:spPr>
          <a:xfrm>
            <a:off x="457200" y="3771900"/>
            <a:ext cx="889000" cy="889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2" name="Titulo2"/>
          <p:cNvSpPr txBox="1"/>
          <p:nvPr/>
        </p:nvSpPr>
        <p:spPr>
          <a:xfrm>
            <a:off x="1651000" y="3848100"/>
            <a:ext cx="3556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Resistência à insulina</a:t>
            </a:r>
          </a:p>
        </p:txBody>
      </p:sp>
      <p:sp>
        <p:nvSpPr>
          <p:cNvPr id="132" name="Desc2"/>
          <p:cNvSpPr txBox="1"/>
          <p:nvPr/>
        </p:nvSpPr>
        <p:spPr>
          <a:xfrm>
            <a:off x="1651000" y="4254500"/>
            <a:ext cx="9652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Menor sensibilidade das células à insulina</a:t>
            </a:r>
          </a:p>
        </p:txBody>
      </p:sp>
      <p:sp>
        <p:nvSpPr>
          <p:cNvPr id="103" name="IconBg3"/>
          <p:cNvSpPr/>
          <p:nvPr/>
        </p:nvSpPr>
        <p:spPr>
          <a:xfrm>
            <a:off x="457200" y="4991100"/>
            <a:ext cx="889000" cy="889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3" name="Titulo3"/>
          <p:cNvSpPr txBox="1"/>
          <p:nvPr/>
        </p:nvSpPr>
        <p:spPr>
          <a:xfrm>
            <a:off x="1651000" y="5067300"/>
            <a:ext cx="3556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Eixo HPA</a:t>
            </a:r>
          </a:p>
        </p:txBody>
      </p:sp>
      <p:sp>
        <p:nvSpPr>
          <p:cNvPr id="133" name="Desc3"/>
          <p:cNvSpPr txBox="1"/>
          <p:nvPr/>
        </p:nvSpPr>
        <p:spPr>
          <a:xfrm>
            <a:off x="1651000" y="5473700"/>
            <a:ext cx="9652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Alterações no eixo hipotálamo-hipófise-adrenal</a:t>
            </a:r>
          </a:p>
        </p:txBody>
      </p:sp>
      <p:sp>
        <p:nvSpPr>
          <p:cNvPr id="20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0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0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37</a:t>
            </a:r>
          </a:p>
        </p:txBody>
      </p:sp>
      <p:pic>
        <p:nvPicPr>
          <p:cNvPr id="203" name="Graphic 203" descr="Menopausa e andropaus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" y="1524000"/>
            <a:ext cx="508000" cy="508000"/>
          </a:xfrm>
          <a:prstGeom prst="rect">
            <a:avLst/>
          </a:prstGeom>
        </p:spPr>
      </p:pic>
      <p:pic>
        <p:nvPicPr>
          <p:cNvPr id="204" name="Graphic 204" descr="Hormônios anabólic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" y="2743200"/>
            <a:ext cx="508000" cy="508000"/>
          </a:xfrm>
          <a:prstGeom prst="rect">
            <a:avLst/>
          </a:prstGeom>
        </p:spPr>
      </p:pic>
      <p:pic>
        <p:nvPicPr>
          <p:cNvPr id="205" name="Graphic 205" descr="Resistência à insulin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3962400"/>
            <a:ext cx="508000" cy="508000"/>
          </a:xfrm>
          <a:prstGeom prst="rect">
            <a:avLst/>
          </a:prstGeom>
        </p:spPr>
      </p:pic>
      <p:pic>
        <p:nvPicPr>
          <p:cNvPr id="206" name="Graphic 206" descr="Eixo HP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" y="5181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1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435C2-EF71-72F1-32F4-887B1D44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Sistema musculoesquelético</a:t>
            </a:r>
          </a:p>
        </p:txBody>
      </p:sp>
      <p:sp>
        <p:nvSpPr>
          <p:cNvPr id="210" name="Num"/>
          <p:cNvSpPr txBox="1"/>
          <p:nvPr/>
        </p:nvSpPr>
        <p:spPr>
          <a:xfrm>
            <a:off x="457200" y="1524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01</a:t>
            </a:r>
          </a:p>
        </p:txBody>
      </p:sp>
      <p:sp>
        <p:nvSpPr>
          <p:cNvPr id="220" name="Titulo"/>
          <p:cNvSpPr txBox="1"/>
          <p:nvPr/>
        </p:nvSpPr>
        <p:spPr>
          <a:xfrm>
            <a:off x="1397000" y="1498600"/>
            <a:ext cx="3302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Sarcopenia</a:t>
            </a:r>
          </a:p>
        </p:txBody>
      </p:sp>
      <p:sp>
        <p:nvSpPr>
          <p:cNvPr id="230" name="Desc"/>
          <p:cNvSpPr txBox="1"/>
          <p:nvPr/>
        </p:nvSpPr>
        <p:spPr>
          <a:xfrm>
            <a:off x="4953000" y="1498600"/>
            <a:ext cx="67818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Perda progressiva de massa e força muscular</a:t>
            </a:r>
          </a:p>
        </p:txBody>
      </p:sp>
      <p:sp>
        <p:nvSpPr>
          <p:cNvPr id="201" name="Sep"/>
          <p:cNvSpPr/>
          <p:nvPr/>
        </p:nvSpPr>
        <p:spPr>
          <a:xfrm>
            <a:off x="457200" y="254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11" name="Num"/>
          <p:cNvSpPr txBox="1"/>
          <p:nvPr/>
        </p:nvSpPr>
        <p:spPr>
          <a:xfrm>
            <a:off x="457200" y="2667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02</a:t>
            </a:r>
          </a:p>
        </p:txBody>
      </p:sp>
      <p:sp>
        <p:nvSpPr>
          <p:cNvPr id="221" name="Titulo"/>
          <p:cNvSpPr txBox="1"/>
          <p:nvPr/>
        </p:nvSpPr>
        <p:spPr>
          <a:xfrm>
            <a:off x="1397000" y="2641600"/>
            <a:ext cx="3302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Osteopenia</a:t>
            </a:r>
          </a:p>
        </p:txBody>
      </p:sp>
      <p:sp>
        <p:nvSpPr>
          <p:cNvPr id="231" name="Desc"/>
          <p:cNvSpPr txBox="1"/>
          <p:nvPr/>
        </p:nvSpPr>
        <p:spPr>
          <a:xfrm>
            <a:off x="4953000" y="2641600"/>
            <a:ext cx="67818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Redução da densidade óssea</a:t>
            </a:r>
          </a:p>
        </p:txBody>
      </p:sp>
      <p:sp>
        <p:nvSpPr>
          <p:cNvPr id="202" name="Sep"/>
          <p:cNvSpPr/>
          <p:nvPr/>
        </p:nvSpPr>
        <p:spPr>
          <a:xfrm>
            <a:off x="457200" y="3683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12" name="Num"/>
          <p:cNvSpPr txBox="1"/>
          <p:nvPr/>
        </p:nvSpPr>
        <p:spPr>
          <a:xfrm>
            <a:off x="457200" y="3810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03</a:t>
            </a:r>
          </a:p>
        </p:txBody>
      </p:sp>
      <p:sp>
        <p:nvSpPr>
          <p:cNvPr id="222" name="Titulo"/>
          <p:cNvSpPr txBox="1"/>
          <p:nvPr/>
        </p:nvSpPr>
        <p:spPr>
          <a:xfrm>
            <a:off x="1397000" y="3784600"/>
            <a:ext cx="3302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↓ Mobilidade</a:t>
            </a:r>
          </a:p>
        </p:txBody>
      </p:sp>
      <p:sp>
        <p:nvSpPr>
          <p:cNvPr id="232" name="Desc"/>
          <p:cNvSpPr txBox="1"/>
          <p:nvPr/>
        </p:nvSpPr>
        <p:spPr>
          <a:xfrm>
            <a:off x="4953000" y="3784600"/>
            <a:ext cx="67818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Menor amplitude e velocidade de movimento</a:t>
            </a:r>
          </a:p>
        </p:txBody>
      </p:sp>
      <p:sp>
        <p:nvSpPr>
          <p:cNvPr id="203" name="Sep"/>
          <p:cNvSpPr/>
          <p:nvPr/>
        </p:nvSpPr>
        <p:spPr>
          <a:xfrm>
            <a:off x="457200" y="4826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13" name="Num"/>
          <p:cNvSpPr txBox="1"/>
          <p:nvPr/>
        </p:nvSpPr>
        <p:spPr>
          <a:xfrm>
            <a:off x="457200" y="4953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04</a:t>
            </a:r>
          </a:p>
        </p:txBody>
      </p:sp>
      <p:sp>
        <p:nvSpPr>
          <p:cNvPr id="223" name="Titulo"/>
          <p:cNvSpPr txBox="1"/>
          <p:nvPr/>
        </p:nvSpPr>
        <p:spPr>
          <a:xfrm>
            <a:off x="1397000" y="4927600"/>
            <a:ext cx="3302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Quedas e fragilidade</a:t>
            </a:r>
          </a:p>
        </p:txBody>
      </p:sp>
      <p:sp>
        <p:nvSpPr>
          <p:cNvPr id="233" name="Desc"/>
          <p:cNvSpPr txBox="1"/>
          <p:nvPr/>
        </p:nvSpPr>
        <p:spPr>
          <a:xfrm>
            <a:off x="4953000" y="4927600"/>
            <a:ext cx="67818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Maior risco de quedas e perda de autonomia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625687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2286000"/>
            <a:ext cx="889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E8A33D"/>
                </a:solidFill>
              </a:rPr>
              <a:t>SEÇÃO 2 · CAPÍTULO 2</a:t>
            </a:r>
          </a:p>
        </p:txBody>
      </p:sp>
      <p:sp>
        <p:nvSpPr>
          <p:cNvPr id="61" name="Titulo"/>
          <p:cNvSpPr txBox="1"/>
          <p:nvPr/>
        </p:nvSpPr>
        <p:spPr>
          <a:xfrm>
            <a:off x="457200" y="2730500"/>
            <a:ext cx="111760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FBF7F0"/>
                </a:solidFill>
              </a:rPr>
              <a:t>Sistemas sensoriais</a:t>
            </a:r>
          </a:p>
        </p:txBody>
      </p:sp>
      <p:sp>
        <p:nvSpPr>
          <p:cNvPr id="62" name="Linha"/>
          <p:cNvSpPr/>
          <p:nvPr/>
        </p:nvSpPr>
        <p:spPr>
          <a:xfrm>
            <a:off x="457200" y="3810000"/>
            <a:ext cx="1143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4" name="Subtitulo"/>
          <p:cNvSpPr txBox="1"/>
          <p:nvPr/>
        </p:nvSpPr>
        <p:spPr>
          <a:xfrm>
            <a:off x="457200" y="4000500"/>
            <a:ext cx="8890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8BBBC4"/>
                </a:solidFill>
              </a:rPr>
              <a:t>Visão e audição — como a percepção sensorial afeta a avaliação cognitiva</a:t>
            </a:r>
          </a:p>
        </p:txBody>
      </p:sp>
    </p:spTree>
    <p:extLst>
      <p:ext uri="{BB962C8B-B14F-4D97-AF65-F5344CB8AC3E}">
        <p14:creationId xmlns:p14="http://schemas.microsoft.com/office/powerpoint/2010/main" val="3480952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FABC-0233-1137-82FA-9A752FF53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Visão × Audição</a:t>
            </a:r>
          </a:p>
        </p:txBody>
      </p:sp>
      <p:sp>
        <p:nvSpPr>
          <p:cNvPr id="100" name="Painel"/>
          <p:cNvSpPr/>
          <p:nvPr/>
        </p:nvSpPr>
        <p:spPr>
          <a:xfrm>
            <a:off x="457200" y="1397000"/>
            <a:ext cx="5486400" cy="469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0" name="Barra"/>
          <p:cNvSpPr/>
          <p:nvPr/>
        </p:nvSpPr>
        <p:spPr>
          <a:xfrm>
            <a:off x="457200" y="1397000"/>
            <a:ext cx="5486400" cy="1016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0" name="PTitulo"/>
          <p:cNvSpPr txBox="1"/>
          <p:nvPr/>
        </p:nvSpPr>
        <p:spPr>
          <a:xfrm>
            <a:off x="762000" y="1778000"/>
            <a:ext cx="48768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F4C5C"/>
                </a:solidFill>
              </a:rPr>
              <a:t>Visão</a:t>
            </a:r>
          </a:p>
        </p:txBody>
      </p:sp>
      <p:sp>
        <p:nvSpPr>
          <p:cNvPr id="130" name="PSub"/>
          <p:cNvSpPr txBox="1"/>
          <p:nvPr/>
        </p:nvSpPr>
        <p:spPr>
          <a:xfrm>
            <a:off x="762000" y="2413000"/>
            <a:ext cx="48768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i="1" dirty="0">
                <a:solidFill>
                  <a:srgbClr val="5B8A9A"/>
                </a:solidFill>
              </a:rPr>
              <a:t>Presbiopia e catarata</a:t>
            </a:r>
          </a:p>
        </p:txBody>
      </p:sp>
      <p:sp>
        <p:nvSpPr>
          <p:cNvPr id="140" name="PExp"/>
          <p:cNvSpPr txBox="1"/>
          <p:nvPr/>
        </p:nvSpPr>
        <p:spPr>
          <a:xfrm>
            <a:off x="762000" y="2921000"/>
            <a:ext cx="4876800" cy="190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17262B"/>
                </a:solidFill>
              </a:rPr>
              <a:t>Dificuldade de foco de perto e opacificação progressiva do cristalino</a:t>
            </a:r>
          </a:p>
        </p:txBody>
      </p:sp>
      <p:sp>
        <p:nvSpPr>
          <p:cNvPr id="150" name="PRes"/>
          <p:cNvSpPr txBox="1"/>
          <p:nvPr/>
        </p:nvSpPr>
        <p:spPr>
          <a:xfrm>
            <a:off x="762000" y="5207000"/>
            <a:ext cx="48768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0F4C5C"/>
                </a:solidFill>
              </a:rPr>
              <a:t>Compensável com correção óptica</a:t>
            </a:r>
          </a:p>
        </p:txBody>
      </p:sp>
      <p:sp>
        <p:nvSpPr>
          <p:cNvPr id="101" name="Painel"/>
          <p:cNvSpPr/>
          <p:nvPr/>
        </p:nvSpPr>
        <p:spPr>
          <a:xfrm>
            <a:off x="6248400" y="1397000"/>
            <a:ext cx="5486400" cy="469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1" name="Barra"/>
          <p:cNvSpPr/>
          <p:nvPr/>
        </p:nvSpPr>
        <p:spPr>
          <a:xfrm>
            <a:off x="6248400" y="1397000"/>
            <a:ext cx="5486400" cy="101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1" name="PTitulo"/>
          <p:cNvSpPr txBox="1"/>
          <p:nvPr/>
        </p:nvSpPr>
        <p:spPr>
          <a:xfrm>
            <a:off x="6553200" y="1778000"/>
            <a:ext cx="48768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B5791F"/>
                </a:solidFill>
              </a:rPr>
              <a:t>Audição</a:t>
            </a:r>
          </a:p>
        </p:txBody>
      </p:sp>
      <p:sp>
        <p:nvSpPr>
          <p:cNvPr id="131" name="PSub"/>
          <p:cNvSpPr txBox="1"/>
          <p:nvPr/>
        </p:nvSpPr>
        <p:spPr>
          <a:xfrm>
            <a:off x="6553200" y="2413000"/>
            <a:ext cx="48768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i="1" dirty="0">
                <a:solidFill>
                  <a:srgbClr val="5B8A9A"/>
                </a:solidFill>
              </a:rPr>
              <a:t>Presbiacusia</a:t>
            </a:r>
          </a:p>
        </p:txBody>
      </p:sp>
      <p:sp>
        <p:nvSpPr>
          <p:cNvPr id="141" name="PExp"/>
          <p:cNvSpPr txBox="1"/>
          <p:nvPr/>
        </p:nvSpPr>
        <p:spPr>
          <a:xfrm>
            <a:off x="6553200" y="2921000"/>
            <a:ext cx="4876800" cy="190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17262B"/>
                </a:solidFill>
              </a:rPr>
              <a:t>Perda progressiva da audição, sobretudo em frequências altas</a:t>
            </a:r>
          </a:p>
        </p:txBody>
      </p:sp>
      <p:sp>
        <p:nvSpPr>
          <p:cNvPr id="151" name="PRes"/>
          <p:cNvSpPr txBox="1"/>
          <p:nvPr/>
        </p:nvSpPr>
        <p:spPr>
          <a:xfrm>
            <a:off x="6553200" y="5207000"/>
            <a:ext cx="48768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B5791F"/>
                </a:solidFill>
              </a:rPr>
              <a:t>Compensável com aparelhos auditivos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912019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1016000" y="1143000"/>
            <a:ext cx="10160000" cy="3556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E8A33D"/>
                </a:solidFill>
              </a:rPr>
              <a:t>ALERTA CLÍNICO</a:t>
            </a:r>
          </a:p>
        </p:txBody>
      </p:sp>
      <p:sp>
        <p:nvSpPr>
          <p:cNvPr id="61" name="Frase"/>
          <p:cNvSpPr txBox="1"/>
          <p:nvPr/>
        </p:nvSpPr>
        <p:spPr>
          <a:xfrm>
            <a:off x="1016000" y="2286000"/>
            <a:ext cx="10160000" cy="1778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3400" b="1" dirty="0">
                <a:solidFill>
                  <a:srgbClr val="FBF7F0"/>
                </a:solidFill>
              </a:rPr>
              <a:t>Antes de dizer que é cognição, cheque visão e audição.</a:t>
            </a:r>
          </a:p>
        </p:txBody>
      </p:sp>
      <p:sp>
        <p:nvSpPr>
          <p:cNvPr id="62" name="Linha"/>
          <p:cNvSpPr/>
          <p:nvPr/>
        </p:nvSpPr>
        <p:spPr>
          <a:xfrm>
            <a:off x="5461000" y="4445000"/>
            <a:ext cx="1270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386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1905000"/>
            <a:ext cx="889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E8A33D"/>
                </a:solidFill>
              </a:rPr>
              <a:t>SEÇÃO 2 · CAPÍTULO 2</a:t>
            </a:r>
          </a:p>
        </p:txBody>
      </p:sp>
      <p:sp>
        <p:nvSpPr>
          <p:cNvPr id="61" name="Titulo"/>
          <p:cNvSpPr txBox="1"/>
          <p:nvPr/>
        </p:nvSpPr>
        <p:spPr>
          <a:xfrm>
            <a:off x="457200" y="2413000"/>
            <a:ext cx="109220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FBF7F0"/>
                </a:solidFill>
              </a:rPr>
              <a:t>Fragilidade</a:t>
            </a:r>
          </a:p>
        </p:txBody>
      </p:sp>
      <p:sp>
        <p:nvSpPr>
          <p:cNvPr id="62" name="Linha"/>
          <p:cNvSpPr/>
          <p:nvPr/>
        </p:nvSpPr>
        <p:spPr>
          <a:xfrm>
            <a:off x="457200" y="3556000"/>
            <a:ext cx="1143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3" name="Subtitulo"/>
          <p:cNvSpPr txBox="1"/>
          <p:nvPr/>
        </p:nvSpPr>
        <p:spPr>
          <a:xfrm>
            <a:off x="457200" y="3810000"/>
            <a:ext cx="8890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8BBBC4"/>
                </a:solidFill>
              </a:rPr>
              <a:t>Do declínio sistêmico à síndrome clínica</a:t>
            </a:r>
          </a:p>
        </p:txBody>
      </p:sp>
    </p:spTree>
    <p:extLst>
      <p:ext uri="{BB962C8B-B14F-4D97-AF65-F5344CB8AC3E}">
        <p14:creationId xmlns:p14="http://schemas.microsoft.com/office/powerpoint/2010/main" val="2954460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EBDD1-9F54-F3F3-412C-7084BADF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Fenótipo de fragilidade (Fried et al.)</a:t>
            </a:r>
          </a:p>
        </p:txBody>
      </p:sp>
      <p:cxnSp>
        <p:nvCxnSpPr>
          <p:cNvPr id="400" name="Spoke0"/>
          <p:cNvCxnSpPr/>
          <p:nvPr/>
        </p:nvCxnSpPr>
        <p:spPr>
          <a:xfrm flipH="1">
            <a:off x="6096000" y="2190750"/>
            <a:ext cx="12700" cy="819150"/>
          </a:xfrm>
          <a:prstGeom prst="line">
            <a:avLst/>
          </a:prstGeom>
          <a:ln w="25400">
            <a:solidFill>
              <a:srgbClr val="5B8A9A"/>
            </a:solidFill>
          </a:ln>
        </p:spPr>
      </p:cxnSp>
      <p:sp>
        <p:nvSpPr>
          <p:cNvPr id="410" name="Sat0"/>
          <p:cNvSpPr/>
          <p:nvPr/>
        </p:nvSpPr>
        <p:spPr>
          <a:xfrm>
            <a:off x="4889500" y="1485900"/>
            <a:ext cx="2413000" cy="838200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300" b="1" dirty="0">
                <a:solidFill>
                  <a:srgbClr val="17262B"/>
                </a:solidFill>
              </a:rPr>
              <a:t>Perda de peso involuntária</a:t>
            </a:r>
          </a:p>
        </p:txBody>
      </p:sp>
      <p:cxnSp>
        <p:nvCxnSpPr>
          <p:cNvPr id="401" name="Spoke1"/>
          <p:cNvCxnSpPr/>
          <p:nvPr/>
        </p:nvCxnSpPr>
        <p:spPr>
          <a:xfrm flipH="1">
            <a:off x="7288140" y="3309624"/>
            <a:ext cx="1220524" cy="253131"/>
          </a:xfrm>
          <a:prstGeom prst="line">
            <a:avLst/>
          </a:prstGeom>
          <a:ln w="25400">
            <a:solidFill>
              <a:srgbClr val="5B8A9A"/>
            </a:solidFill>
          </a:ln>
        </p:spPr>
      </p:cxnSp>
      <p:sp>
        <p:nvSpPr>
          <p:cNvPr id="411" name="Sat1"/>
          <p:cNvSpPr/>
          <p:nvPr/>
        </p:nvSpPr>
        <p:spPr>
          <a:xfrm>
            <a:off x="7727928" y="2802223"/>
            <a:ext cx="2413000" cy="838200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300" b="1" dirty="0">
                <a:solidFill>
                  <a:srgbClr val="17262B"/>
                </a:solidFill>
              </a:rPr>
              <a:t>Exaustão autorreferida</a:t>
            </a:r>
          </a:p>
        </p:txBody>
      </p:sp>
      <p:cxnSp>
        <p:nvCxnSpPr>
          <p:cNvPr id="402" name="Spoke2"/>
          <p:cNvCxnSpPr/>
          <p:nvPr/>
        </p:nvCxnSpPr>
        <p:spPr>
          <a:xfrm>
            <a:off x="6832783" y="4457294"/>
            <a:ext cx="754325" cy="662706"/>
          </a:xfrm>
          <a:prstGeom prst="line">
            <a:avLst/>
          </a:prstGeom>
          <a:ln w="25400">
            <a:solidFill>
              <a:srgbClr val="5B8A9A"/>
            </a:solidFill>
          </a:ln>
        </p:spPr>
      </p:cxnSp>
      <p:sp>
        <p:nvSpPr>
          <p:cNvPr id="412" name="Sat2"/>
          <p:cNvSpPr/>
          <p:nvPr/>
        </p:nvSpPr>
        <p:spPr>
          <a:xfrm>
            <a:off x="6643745" y="4932077"/>
            <a:ext cx="2413000" cy="838200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300" b="1" dirty="0">
                <a:solidFill>
                  <a:srgbClr val="17262B"/>
                </a:solidFill>
              </a:rPr>
              <a:t>Fraqueza (força de preensão)</a:t>
            </a:r>
          </a:p>
        </p:txBody>
      </p:sp>
      <p:cxnSp>
        <p:nvCxnSpPr>
          <p:cNvPr id="403" name="Spoke3"/>
          <p:cNvCxnSpPr/>
          <p:nvPr/>
        </p:nvCxnSpPr>
        <p:spPr>
          <a:xfrm flipH="1">
            <a:off x="4604892" y="4457294"/>
            <a:ext cx="754325" cy="662706"/>
          </a:xfrm>
          <a:prstGeom prst="line">
            <a:avLst/>
          </a:prstGeom>
          <a:ln w="25400">
            <a:solidFill>
              <a:srgbClr val="5B8A9A"/>
            </a:solidFill>
          </a:ln>
        </p:spPr>
      </p:cxnSp>
      <p:sp>
        <p:nvSpPr>
          <p:cNvPr id="413" name="Sat3"/>
          <p:cNvSpPr/>
          <p:nvPr/>
        </p:nvSpPr>
        <p:spPr>
          <a:xfrm>
            <a:off x="3135255" y="4932077"/>
            <a:ext cx="2413000" cy="838200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300" b="1" dirty="0">
                <a:solidFill>
                  <a:srgbClr val="17262B"/>
                </a:solidFill>
              </a:rPr>
              <a:t>Lentidão da marcha</a:t>
            </a:r>
          </a:p>
        </p:txBody>
      </p:sp>
      <p:cxnSp>
        <p:nvCxnSpPr>
          <p:cNvPr id="404" name="Spoke4"/>
          <p:cNvCxnSpPr/>
          <p:nvPr/>
        </p:nvCxnSpPr>
        <p:spPr>
          <a:xfrm>
            <a:off x="3683336" y="3309624"/>
            <a:ext cx="1220524" cy="253131"/>
          </a:xfrm>
          <a:prstGeom prst="line">
            <a:avLst/>
          </a:prstGeom>
          <a:ln w="25400">
            <a:solidFill>
              <a:srgbClr val="5B8A9A"/>
            </a:solidFill>
          </a:ln>
        </p:spPr>
      </p:cxnSp>
      <p:sp>
        <p:nvSpPr>
          <p:cNvPr id="414" name="Sat4"/>
          <p:cNvSpPr/>
          <p:nvPr/>
        </p:nvSpPr>
        <p:spPr>
          <a:xfrm>
            <a:off x="2051072" y="2802223"/>
            <a:ext cx="2413000" cy="838200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300" b="1" dirty="0">
                <a:solidFill>
                  <a:srgbClr val="17262B"/>
                </a:solidFill>
              </a:rPr>
              <a:t>Baixa atividade física</a:t>
            </a:r>
          </a:p>
        </p:txBody>
      </p:sp>
      <p:sp>
        <p:nvSpPr>
          <p:cNvPr id="420" name="Central"/>
          <p:cNvSpPr/>
          <p:nvPr/>
        </p:nvSpPr>
        <p:spPr>
          <a:xfrm>
            <a:off x="5080000" y="2794000"/>
            <a:ext cx="2032000" cy="20320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pt-BR" sz="1700" b="1" dirty="0">
                <a:solidFill>
                  <a:srgbClr val="FBF7F0"/>
                </a:solidFill>
              </a:rPr>
              <a:t>Fragilidade</a:t>
            </a:r>
          </a:p>
        </p:txBody>
      </p:sp>
      <p:sp>
        <p:nvSpPr>
          <p:cNvPr id="430" name="Nota"/>
          <p:cNvSpPr txBox="1"/>
          <p:nvPr/>
        </p:nvSpPr>
        <p:spPr>
          <a:xfrm>
            <a:off x="457200" y="6032500"/>
            <a:ext cx="112776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i="1" dirty="0">
                <a:solidFill>
                  <a:srgbClr val="5B8A9A"/>
                </a:solidFill>
              </a:rPr>
              <a:t>3 ou mais critérios = fragilidade; 1-2 = pré-fragilidade</a:t>
            </a:r>
          </a:p>
        </p:txBody>
      </p:sp>
      <p:sp>
        <p:nvSpPr>
          <p:cNvPr id="4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 wrap="square" anchor="ctr"/>
          <a:lstStyle/>
          <a:p>
            <a:endParaRPr lang="pt-BR"/>
          </a:p>
        </p:txBody>
      </p:sp>
      <p:sp>
        <p:nvSpPr>
          <p:cNvPr id="4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4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312860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15899-2E96-89E4-E03A-8465E7A9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Fragilidade cognitiva</a:t>
            </a:r>
          </a:p>
        </p:txBody>
      </p:sp>
      <p:sp>
        <p:nvSpPr>
          <p:cNvPr id="200" name="Circ1"/>
          <p:cNvSpPr/>
          <p:nvPr/>
        </p:nvSpPr>
        <p:spPr>
          <a:xfrm>
            <a:off x="457200" y="1460500"/>
            <a:ext cx="762000" cy="7620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201" name="Letra1"/>
          <p:cNvSpPr txBox="1"/>
          <p:nvPr/>
        </p:nvSpPr>
        <p:spPr>
          <a:xfrm>
            <a:off x="457200" y="1460500"/>
            <a:ext cx="762000" cy="762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400" b="1" dirty="0">
                <a:solidFill>
                  <a:srgbClr val="FBF7F0"/>
                </a:solidFill>
              </a:rPr>
              <a:t>F</a:t>
            </a:r>
          </a:p>
        </p:txBody>
      </p:sp>
      <p:sp>
        <p:nvSpPr>
          <p:cNvPr id="202" name="Titulo1"/>
          <p:cNvSpPr txBox="1"/>
          <p:nvPr/>
        </p:nvSpPr>
        <p:spPr>
          <a:xfrm>
            <a:off x="1460500" y="1422400"/>
            <a:ext cx="3810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Fragilidade física</a:t>
            </a:r>
          </a:p>
        </p:txBody>
      </p:sp>
      <p:sp>
        <p:nvSpPr>
          <p:cNvPr id="203" name="Desc1"/>
          <p:cNvSpPr txBox="1"/>
          <p:nvPr/>
        </p:nvSpPr>
        <p:spPr>
          <a:xfrm>
            <a:off x="1460500" y="1854200"/>
            <a:ext cx="9779000" cy="444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Perda de peso, exaustão, fraqueza, lentidão e baixa atividade (Fried)</a:t>
            </a:r>
          </a:p>
        </p:txBody>
      </p:sp>
      <p:sp>
        <p:nvSpPr>
          <p:cNvPr id="204" name="Plus"/>
          <p:cNvSpPr txBox="1"/>
          <p:nvPr/>
        </p:nvSpPr>
        <p:spPr>
          <a:xfrm>
            <a:off x="635000" y="2540000"/>
            <a:ext cx="762000" cy="508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400" b="1" dirty="0">
                <a:solidFill>
                  <a:srgbClr val="E8A33D"/>
                </a:solidFill>
              </a:rPr>
              <a:t>+</a:t>
            </a:r>
          </a:p>
        </p:txBody>
      </p:sp>
      <p:sp>
        <p:nvSpPr>
          <p:cNvPr id="210" name="Circ2"/>
          <p:cNvSpPr/>
          <p:nvPr/>
        </p:nvSpPr>
        <p:spPr>
          <a:xfrm>
            <a:off x="457200" y="3238500"/>
            <a:ext cx="762000" cy="762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11" name="Letra2"/>
          <p:cNvSpPr txBox="1"/>
          <p:nvPr/>
        </p:nvSpPr>
        <p:spPr>
          <a:xfrm>
            <a:off x="457200" y="3238500"/>
            <a:ext cx="762000" cy="762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400" b="1" dirty="0">
                <a:solidFill>
                  <a:srgbClr val="17262B"/>
                </a:solidFill>
              </a:rPr>
              <a:t>C</a:t>
            </a:r>
          </a:p>
        </p:txBody>
      </p:sp>
      <p:sp>
        <p:nvSpPr>
          <p:cNvPr id="212" name="Titulo2"/>
          <p:cNvSpPr txBox="1"/>
          <p:nvPr/>
        </p:nvSpPr>
        <p:spPr>
          <a:xfrm>
            <a:off x="1460500" y="3200400"/>
            <a:ext cx="5080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Comprometimento cognitivo</a:t>
            </a:r>
          </a:p>
        </p:txBody>
      </p:sp>
      <p:sp>
        <p:nvSpPr>
          <p:cNvPr id="213" name="Desc2"/>
          <p:cNvSpPr txBox="1"/>
          <p:nvPr/>
        </p:nvSpPr>
        <p:spPr>
          <a:xfrm>
            <a:off x="1460500" y="3632200"/>
            <a:ext cx="9779000" cy="444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Declínio cognitivo leve, sem demência estabelecida</a:t>
            </a:r>
          </a:p>
        </p:txBody>
      </p:sp>
      <p:sp>
        <p:nvSpPr>
          <p:cNvPr id="220" name="ResultBand"/>
          <p:cNvSpPr/>
          <p:nvPr/>
        </p:nvSpPr>
        <p:spPr>
          <a:xfrm>
            <a:off x="457200" y="4572000"/>
            <a:ext cx="11277600" cy="1143000"/>
          </a:xfrm>
          <a:prstGeom prst="round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221" name="ResultTitulo"/>
          <p:cNvSpPr txBox="1"/>
          <p:nvPr/>
        </p:nvSpPr>
        <p:spPr>
          <a:xfrm>
            <a:off x="889000" y="4800600"/>
            <a:ext cx="5080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FBF7F0"/>
                </a:solidFill>
              </a:rPr>
              <a:t>= Fragilidade cognitiva</a:t>
            </a:r>
          </a:p>
        </p:txBody>
      </p:sp>
      <p:sp>
        <p:nvSpPr>
          <p:cNvPr id="222" name="ResultDesc"/>
          <p:cNvSpPr txBox="1"/>
          <p:nvPr/>
        </p:nvSpPr>
        <p:spPr>
          <a:xfrm>
            <a:off x="889000" y="5207000"/>
            <a:ext cx="10160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8BBBC4"/>
                </a:solidFill>
              </a:rPr>
              <a:t>Conceito emergente: maior risco de progressão para demência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68593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762000"/>
            <a:ext cx="762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E8A33D"/>
                </a:solidFill>
              </a:rPr>
              <a:t>SEÇÃO 3 · CAPÍTULO 2</a:t>
            </a:r>
          </a:p>
        </p:txBody>
      </p:sp>
      <p:sp>
        <p:nvSpPr>
          <p:cNvPr id="61" name="Titulo"/>
          <p:cNvSpPr txBox="1"/>
          <p:nvPr/>
        </p:nvSpPr>
        <p:spPr>
          <a:xfrm>
            <a:off x="457200" y="1270000"/>
            <a:ext cx="10922000" cy="1143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3600" b="1" dirty="0">
                <a:solidFill>
                  <a:srgbClr val="FBF7F0"/>
                </a:solidFill>
              </a:rPr>
              <a:t>Farmacologia do idoso</a:t>
            </a:r>
          </a:p>
        </p:txBody>
      </p:sp>
      <p:sp>
        <p:nvSpPr>
          <p:cNvPr id="62" name="Linha"/>
          <p:cNvSpPr/>
          <p:nvPr/>
        </p:nvSpPr>
        <p:spPr>
          <a:xfrm>
            <a:off x="457200" y="2667000"/>
            <a:ext cx="1143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3" name="Subtitulo"/>
          <p:cNvSpPr txBox="1"/>
          <p:nvPr/>
        </p:nvSpPr>
        <p:spPr>
          <a:xfrm>
            <a:off x="457200" y="2921000"/>
            <a:ext cx="8890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8BBBC4"/>
                </a:solidFill>
              </a:rPr>
              <a:t>Farmacocinética, farmacodinâmica e polifarmácia no idoso</a:t>
            </a:r>
          </a:p>
        </p:txBody>
      </p:sp>
    </p:spTree>
    <p:extLst>
      <p:ext uri="{BB962C8B-B14F-4D97-AF65-F5344CB8AC3E}">
        <p14:creationId xmlns:p14="http://schemas.microsoft.com/office/powerpoint/2010/main" val="3843421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EEE75-1D00-C623-0D71-3C7E9DB90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Alterações farmacocinéticas e farmacodinâmicas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46</a:t>
            </a:r>
          </a:p>
        </p:txBody>
      </p:sp>
      <p:sp>
        <p:nvSpPr>
          <p:cNvPr id="100" name="Card"/>
          <p:cNvSpPr/>
          <p:nvPr/>
        </p:nvSpPr>
        <p:spPr>
          <a:xfrm>
            <a:off x="457200" y="1397000"/>
            <a:ext cx="2628900" cy="444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0" name="Num"/>
          <p:cNvSpPr txBox="1"/>
          <p:nvPr/>
        </p:nvSpPr>
        <p:spPr>
          <a:xfrm>
            <a:off x="660400" y="1600200"/>
            <a:ext cx="22225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E8A33D"/>
                </a:solidFill>
              </a:rPr>
              <a:t>01</a:t>
            </a:r>
          </a:p>
        </p:txBody>
      </p:sp>
      <p:sp>
        <p:nvSpPr>
          <p:cNvPr id="120" name="Titulo"/>
          <p:cNvSpPr txBox="1"/>
          <p:nvPr/>
        </p:nvSpPr>
        <p:spPr>
          <a:xfrm>
            <a:off x="660400" y="2413000"/>
            <a:ext cx="22225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Absorção</a:t>
            </a:r>
          </a:p>
        </p:txBody>
      </p:sp>
      <p:sp>
        <p:nvSpPr>
          <p:cNvPr id="130" name="Desc"/>
          <p:cNvSpPr txBox="1"/>
          <p:nvPr/>
        </p:nvSpPr>
        <p:spPr>
          <a:xfrm>
            <a:off x="660400" y="3048000"/>
            <a:ext cx="2222500" cy="228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Mudanças no pH gástrico e na motilidade intestinal</a:t>
            </a:r>
          </a:p>
        </p:txBody>
      </p:sp>
      <p:sp>
        <p:nvSpPr>
          <p:cNvPr id="101" name="Card"/>
          <p:cNvSpPr/>
          <p:nvPr/>
        </p:nvSpPr>
        <p:spPr>
          <a:xfrm>
            <a:off x="3340100" y="1397000"/>
            <a:ext cx="2628900" cy="444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1" name="Num"/>
          <p:cNvSpPr txBox="1"/>
          <p:nvPr/>
        </p:nvSpPr>
        <p:spPr>
          <a:xfrm>
            <a:off x="3543300" y="1600200"/>
            <a:ext cx="22225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E8A33D"/>
                </a:solidFill>
              </a:rPr>
              <a:t>02</a:t>
            </a:r>
          </a:p>
        </p:txBody>
      </p:sp>
      <p:sp>
        <p:nvSpPr>
          <p:cNvPr id="121" name="Titulo"/>
          <p:cNvSpPr txBox="1"/>
          <p:nvPr/>
        </p:nvSpPr>
        <p:spPr>
          <a:xfrm>
            <a:off x="3543300" y="2413000"/>
            <a:ext cx="22225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Distribuição</a:t>
            </a:r>
          </a:p>
        </p:txBody>
      </p:sp>
      <p:sp>
        <p:nvSpPr>
          <p:cNvPr id="131" name="Desc"/>
          <p:cNvSpPr txBox="1"/>
          <p:nvPr/>
        </p:nvSpPr>
        <p:spPr>
          <a:xfrm>
            <a:off x="3543300" y="3048000"/>
            <a:ext cx="2222500" cy="228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↑ gordura corporal altera fármacos lipossolúveis</a:t>
            </a:r>
          </a:p>
        </p:txBody>
      </p:sp>
      <p:sp>
        <p:nvSpPr>
          <p:cNvPr id="102" name="Card"/>
          <p:cNvSpPr/>
          <p:nvPr/>
        </p:nvSpPr>
        <p:spPr>
          <a:xfrm>
            <a:off x="6223000" y="1397000"/>
            <a:ext cx="2628900" cy="444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2" name="Num"/>
          <p:cNvSpPr txBox="1"/>
          <p:nvPr/>
        </p:nvSpPr>
        <p:spPr>
          <a:xfrm>
            <a:off x="6426200" y="1600200"/>
            <a:ext cx="22225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E8A33D"/>
                </a:solidFill>
              </a:rPr>
              <a:t>03</a:t>
            </a:r>
          </a:p>
        </p:txBody>
      </p:sp>
      <p:sp>
        <p:nvSpPr>
          <p:cNvPr id="122" name="Titulo"/>
          <p:cNvSpPr txBox="1"/>
          <p:nvPr/>
        </p:nvSpPr>
        <p:spPr>
          <a:xfrm>
            <a:off x="6426200" y="2413000"/>
            <a:ext cx="22225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Metabolismo</a:t>
            </a:r>
          </a:p>
        </p:txBody>
      </p:sp>
      <p:sp>
        <p:nvSpPr>
          <p:cNvPr id="132" name="Desc"/>
          <p:cNvSpPr txBox="1"/>
          <p:nvPr/>
        </p:nvSpPr>
        <p:spPr>
          <a:xfrm>
            <a:off x="6426200" y="3048000"/>
            <a:ext cx="2222500" cy="228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↓ metabolismo hepático de primeira passagem</a:t>
            </a:r>
          </a:p>
        </p:txBody>
      </p:sp>
      <p:sp>
        <p:nvSpPr>
          <p:cNvPr id="103" name="Card"/>
          <p:cNvSpPr/>
          <p:nvPr/>
        </p:nvSpPr>
        <p:spPr>
          <a:xfrm>
            <a:off x="9105900" y="1397000"/>
            <a:ext cx="2628900" cy="444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3" name="Num"/>
          <p:cNvSpPr txBox="1"/>
          <p:nvPr/>
        </p:nvSpPr>
        <p:spPr>
          <a:xfrm>
            <a:off x="9309100" y="1600200"/>
            <a:ext cx="22225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E8A33D"/>
                </a:solidFill>
              </a:rPr>
              <a:t>04</a:t>
            </a:r>
          </a:p>
        </p:txBody>
      </p:sp>
      <p:sp>
        <p:nvSpPr>
          <p:cNvPr id="123" name="Titulo"/>
          <p:cNvSpPr txBox="1"/>
          <p:nvPr/>
        </p:nvSpPr>
        <p:spPr>
          <a:xfrm>
            <a:off x="9309100" y="2413000"/>
            <a:ext cx="22225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Excreção</a:t>
            </a:r>
          </a:p>
        </p:txBody>
      </p:sp>
      <p:sp>
        <p:nvSpPr>
          <p:cNvPr id="133" name="Desc"/>
          <p:cNvSpPr txBox="1"/>
          <p:nvPr/>
        </p:nvSpPr>
        <p:spPr>
          <a:xfrm>
            <a:off x="9309100" y="3048000"/>
            <a:ext cx="2222500" cy="228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↓ depuração renal prolonga a meia-vida dos fármacos</a:t>
            </a:r>
          </a:p>
        </p:txBody>
      </p:sp>
    </p:spTree>
    <p:extLst>
      <p:ext uri="{BB962C8B-B14F-4D97-AF65-F5344CB8AC3E}">
        <p14:creationId xmlns:p14="http://schemas.microsoft.com/office/powerpoint/2010/main" val="3382546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EBD23-D807-E59B-DFD3-113D058E7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Polifarmácia: alerta clínico</a:t>
            </a:r>
          </a:p>
        </p:txBody>
      </p:sp>
      <p:sp>
        <p:nvSpPr>
          <p:cNvPr id="200" name="CircBg"/>
          <p:cNvSpPr/>
          <p:nvPr/>
        </p:nvSpPr>
        <p:spPr>
          <a:xfrm>
            <a:off x="457200" y="1333500"/>
            <a:ext cx="889000" cy="889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0" name="Titulo"/>
          <p:cNvSpPr txBox="1"/>
          <p:nvPr/>
        </p:nvSpPr>
        <p:spPr>
          <a:xfrm>
            <a:off x="1651000" y="1409700"/>
            <a:ext cx="508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≥ 5 medicamentos</a:t>
            </a:r>
          </a:p>
        </p:txBody>
      </p:sp>
      <p:sp>
        <p:nvSpPr>
          <p:cNvPr id="230" name="Desc"/>
          <p:cNvSpPr txBox="1"/>
          <p:nvPr/>
        </p:nvSpPr>
        <p:spPr>
          <a:xfrm>
            <a:off x="1651000" y="1841500"/>
            <a:ext cx="9652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Definição de polifarmácia</a:t>
            </a:r>
          </a:p>
        </p:txBody>
      </p:sp>
      <p:sp>
        <p:nvSpPr>
          <p:cNvPr id="201" name="CircBg"/>
          <p:cNvSpPr/>
          <p:nvPr/>
        </p:nvSpPr>
        <p:spPr>
          <a:xfrm>
            <a:off x="457200" y="2552700"/>
            <a:ext cx="889000" cy="889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1" name="Titulo"/>
          <p:cNvSpPr txBox="1"/>
          <p:nvPr/>
        </p:nvSpPr>
        <p:spPr>
          <a:xfrm>
            <a:off x="1651000" y="2628900"/>
            <a:ext cx="508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Cascata de prescrição</a:t>
            </a:r>
          </a:p>
        </p:txBody>
      </p:sp>
      <p:sp>
        <p:nvSpPr>
          <p:cNvPr id="231" name="Desc"/>
          <p:cNvSpPr txBox="1"/>
          <p:nvPr/>
        </p:nvSpPr>
        <p:spPr>
          <a:xfrm>
            <a:off x="1651000" y="3060700"/>
            <a:ext cx="9652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Um efeito colateral é tratado com um novo medicamento</a:t>
            </a:r>
          </a:p>
        </p:txBody>
      </p:sp>
      <p:sp>
        <p:nvSpPr>
          <p:cNvPr id="202" name="CircBg"/>
          <p:cNvSpPr/>
          <p:nvPr/>
        </p:nvSpPr>
        <p:spPr>
          <a:xfrm>
            <a:off x="457200" y="3771900"/>
            <a:ext cx="889000" cy="889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2" name="Titulo"/>
          <p:cNvSpPr txBox="1"/>
          <p:nvPr/>
        </p:nvSpPr>
        <p:spPr>
          <a:xfrm>
            <a:off x="1651000" y="3848100"/>
            <a:ext cx="508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Anticolinérgicos e sedativos</a:t>
            </a:r>
          </a:p>
        </p:txBody>
      </p:sp>
      <p:sp>
        <p:nvSpPr>
          <p:cNvPr id="232" name="Desc"/>
          <p:cNvSpPr txBox="1"/>
          <p:nvPr/>
        </p:nvSpPr>
        <p:spPr>
          <a:xfrm>
            <a:off x="1651000" y="4279900"/>
            <a:ext cx="9652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Classes farmacológicas de maior risco cognitivo</a:t>
            </a:r>
          </a:p>
        </p:txBody>
      </p:sp>
      <p:sp>
        <p:nvSpPr>
          <p:cNvPr id="203" name="CircBg"/>
          <p:cNvSpPr/>
          <p:nvPr/>
        </p:nvSpPr>
        <p:spPr>
          <a:xfrm>
            <a:off x="457200" y="4991100"/>
            <a:ext cx="889000" cy="889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3" name="Titulo"/>
          <p:cNvSpPr txBox="1"/>
          <p:nvPr/>
        </p:nvSpPr>
        <p:spPr>
          <a:xfrm>
            <a:off x="1651000" y="5067300"/>
            <a:ext cx="508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Rebaixamento cognitivo iatrogênico</a:t>
            </a:r>
          </a:p>
        </p:txBody>
      </p:sp>
      <p:sp>
        <p:nvSpPr>
          <p:cNvPr id="233" name="Desc"/>
          <p:cNvSpPr txBox="1"/>
          <p:nvPr/>
        </p:nvSpPr>
        <p:spPr>
          <a:xfrm>
            <a:off x="1651000" y="5499100"/>
            <a:ext cx="9652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Confusão mental causada pelo próprio tratamento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47</a:t>
            </a:r>
          </a:p>
        </p:txBody>
      </p:sp>
      <p:pic>
        <p:nvPicPr>
          <p:cNvPr id="243" name="Graphic 243" descr="Definição de polifarmáci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" y="1524000"/>
            <a:ext cx="508000" cy="508000"/>
          </a:xfrm>
          <a:prstGeom prst="rect">
            <a:avLst/>
          </a:prstGeom>
        </p:spPr>
      </p:pic>
      <p:pic>
        <p:nvPicPr>
          <p:cNvPr id="244" name="Graphic 244" descr="Cascata de prescriçã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7700" y="2743200"/>
            <a:ext cx="508000" cy="508000"/>
          </a:xfrm>
          <a:prstGeom prst="rect">
            <a:avLst/>
          </a:prstGeom>
        </p:spPr>
      </p:pic>
      <p:pic>
        <p:nvPicPr>
          <p:cNvPr id="245" name="Graphic 245" descr="Anticolinérgicos e sedativ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3962400"/>
            <a:ext cx="508000" cy="508000"/>
          </a:xfrm>
          <a:prstGeom prst="rect">
            <a:avLst/>
          </a:prstGeom>
        </p:spPr>
      </p:pic>
      <p:pic>
        <p:nvPicPr>
          <p:cNvPr id="246" name="Graphic 246" descr="Rebaixamento cognitivo iatrogênic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" y="5181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29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D4C3D-4783-3601-CB17-4815F6DE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Caso: a “confusão” que era o remédio</a:t>
            </a:r>
          </a:p>
        </p:txBody>
      </p:sp>
      <p:sp>
        <p:nvSpPr>
          <p:cNvPr id="50" name="ImgCard"/>
          <p:cNvSpPr/>
          <p:nvPr/>
        </p:nvSpPr>
        <p:spPr>
          <a:xfrm>
            <a:off x="457200" y="1333500"/>
            <a:ext cx="5080000" cy="495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" name="Caption"/>
          <p:cNvSpPr txBox="1"/>
          <p:nvPr/>
        </p:nvSpPr>
        <p:spPr>
          <a:xfrm>
            <a:off x="838200" y="5080000"/>
            <a:ext cx="43180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i="1" dirty="0">
                <a:solidFill>
                  <a:srgbClr val="5B8A9A"/>
                </a:solidFill>
              </a:rPr>
              <a:t>Medicamento certo? Ou dúvida a ser investigada?</a:t>
            </a:r>
          </a:p>
        </p:txBody>
      </p:sp>
      <p:sp>
        <p:nvSpPr>
          <p:cNvPr id="60" name="Dot"/>
          <p:cNvSpPr/>
          <p:nvPr/>
        </p:nvSpPr>
        <p:spPr>
          <a:xfrm>
            <a:off x="5740400" y="1549400"/>
            <a:ext cx="127000" cy="127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" name="Bullet"/>
          <p:cNvSpPr txBox="1"/>
          <p:nvPr/>
        </p:nvSpPr>
        <p:spPr>
          <a:xfrm>
            <a:off x="5994400" y="1460500"/>
            <a:ext cx="57404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17262B"/>
                </a:solidFill>
              </a:rPr>
              <a:t>Paciente idoso, início súbito de confusão mental</a:t>
            </a:r>
          </a:p>
        </p:txBody>
      </p:sp>
      <p:sp>
        <p:nvSpPr>
          <p:cNvPr id="61" name="Dot"/>
          <p:cNvSpPr/>
          <p:nvPr/>
        </p:nvSpPr>
        <p:spPr>
          <a:xfrm>
            <a:off x="5740400" y="2755900"/>
            <a:ext cx="127000" cy="127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1" name="Bullet"/>
          <p:cNvSpPr txBox="1"/>
          <p:nvPr/>
        </p:nvSpPr>
        <p:spPr>
          <a:xfrm>
            <a:off x="5994400" y="2667000"/>
            <a:ext cx="57404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17262B"/>
                </a:solidFill>
              </a:rPr>
              <a:t>Investigação revelou uso recente de benzodiazepínico</a:t>
            </a:r>
          </a:p>
        </p:txBody>
      </p:sp>
      <p:sp>
        <p:nvSpPr>
          <p:cNvPr id="62" name="Dot"/>
          <p:cNvSpPr/>
          <p:nvPr/>
        </p:nvSpPr>
        <p:spPr>
          <a:xfrm>
            <a:off x="5740400" y="3962400"/>
            <a:ext cx="127000" cy="127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2" name="Bullet"/>
          <p:cNvSpPr txBox="1"/>
          <p:nvPr/>
        </p:nvSpPr>
        <p:spPr>
          <a:xfrm>
            <a:off x="5994400" y="3873500"/>
            <a:ext cx="57404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17262B"/>
                </a:solidFill>
              </a:rPr>
              <a:t>Suspensão do medicamento reverteu o quadro</a:t>
            </a:r>
          </a:p>
        </p:txBody>
      </p:sp>
      <p:sp>
        <p:nvSpPr>
          <p:cNvPr id="63" name="Dot"/>
          <p:cNvSpPr/>
          <p:nvPr/>
        </p:nvSpPr>
        <p:spPr>
          <a:xfrm>
            <a:off x="5740400" y="5168900"/>
            <a:ext cx="127000" cy="127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3" name="Bullet"/>
          <p:cNvSpPr txBox="1"/>
          <p:nvPr/>
        </p:nvSpPr>
        <p:spPr>
          <a:xfrm>
            <a:off x="5994400" y="5080000"/>
            <a:ext cx="57404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Lição: sempre revisar a lista de medicamentos antes de investigar demência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48</a:t>
            </a:r>
          </a:p>
        </p:txBody>
      </p:sp>
      <p:pic>
        <p:nvPicPr>
          <p:cNvPr id="243" name="Graphic 243" descr="Paciente idos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4200" y="2032000"/>
            <a:ext cx="1016000" cy="1778000"/>
          </a:xfrm>
          <a:prstGeom prst="rect">
            <a:avLst/>
          </a:prstGeom>
        </p:spPr>
      </p:pic>
      <p:pic>
        <p:nvPicPr>
          <p:cNvPr id="244" name="Graphic 244" descr="Medicament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000" y="35560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05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F3832-DEF9-273D-0517-AB923E34C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Do sistêmico ao cérebro</a:t>
            </a:r>
          </a:p>
        </p:txBody>
      </p:sp>
      <p:sp>
        <p:nvSpPr>
          <p:cNvPr id="100" name="VLine"/>
          <p:cNvSpPr/>
          <p:nvPr/>
        </p:nvSpPr>
        <p:spPr>
          <a:xfrm>
            <a:off x="876300" y="1739900"/>
            <a:ext cx="25400" cy="36195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0" name="Circ"/>
          <p:cNvSpPr/>
          <p:nvPr/>
        </p:nvSpPr>
        <p:spPr>
          <a:xfrm>
            <a:off x="609600" y="1460500"/>
            <a:ext cx="558800" cy="558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0" name="Num"/>
          <p:cNvSpPr txBox="1"/>
          <p:nvPr/>
        </p:nvSpPr>
        <p:spPr>
          <a:xfrm>
            <a:off x="609600" y="1460500"/>
            <a:ext cx="558800" cy="558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FBF7F0"/>
                </a:solidFill>
              </a:rPr>
              <a:t>01</a:t>
            </a:r>
          </a:p>
        </p:txBody>
      </p:sp>
      <p:sp>
        <p:nvSpPr>
          <p:cNvPr id="130" name="Titulo"/>
          <p:cNvSpPr txBox="1"/>
          <p:nvPr/>
        </p:nvSpPr>
        <p:spPr>
          <a:xfrm>
            <a:off x="1778000" y="1282700"/>
            <a:ext cx="9652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Comorbidade</a:t>
            </a:r>
          </a:p>
        </p:txBody>
      </p:sp>
      <p:sp>
        <p:nvSpPr>
          <p:cNvPr id="140" name="Desc"/>
          <p:cNvSpPr txBox="1"/>
          <p:nvPr/>
        </p:nvSpPr>
        <p:spPr>
          <a:xfrm>
            <a:off x="1778000" y="1689100"/>
            <a:ext cx="9652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Doença sistêmica de base (ex: hipertensão, diabetes)</a:t>
            </a:r>
          </a:p>
        </p:txBody>
      </p:sp>
      <p:sp>
        <p:nvSpPr>
          <p:cNvPr id="111" name="Circ"/>
          <p:cNvSpPr/>
          <p:nvPr/>
        </p:nvSpPr>
        <p:spPr>
          <a:xfrm>
            <a:off x="609600" y="2667000"/>
            <a:ext cx="558800" cy="558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1" name="Num"/>
          <p:cNvSpPr txBox="1"/>
          <p:nvPr/>
        </p:nvSpPr>
        <p:spPr>
          <a:xfrm>
            <a:off x="609600" y="2667000"/>
            <a:ext cx="558800" cy="558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FBF7F0"/>
                </a:solidFill>
              </a:rPr>
              <a:t>02</a:t>
            </a:r>
          </a:p>
        </p:txBody>
      </p:sp>
      <p:sp>
        <p:nvSpPr>
          <p:cNvPr id="131" name="Titulo"/>
          <p:cNvSpPr txBox="1"/>
          <p:nvPr/>
        </p:nvSpPr>
        <p:spPr>
          <a:xfrm>
            <a:off x="1778000" y="2489200"/>
            <a:ext cx="9652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Hipóxia, inflamação e alteração metabólica</a:t>
            </a:r>
          </a:p>
        </p:txBody>
      </p:sp>
      <p:sp>
        <p:nvSpPr>
          <p:cNvPr id="141" name="Desc"/>
          <p:cNvSpPr txBox="1"/>
          <p:nvPr/>
        </p:nvSpPr>
        <p:spPr>
          <a:xfrm>
            <a:off x="1778000" y="2895600"/>
            <a:ext cx="9652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Mecanismos que afetam o tecido cerebral</a:t>
            </a:r>
          </a:p>
        </p:txBody>
      </p:sp>
      <p:sp>
        <p:nvSpPr>
          <p:cNvPr id="112" name="Circ"/>
          <p:cNvSpPr/>
          <p:nvPr/>
        </p:nvSpPr>
        <p:spPr>
          <a:xfrm>
            <a:off x="609600" y="3873500"/>
            <a:ext cx="558800" cy="558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2" name="Num"/>
          <p:cNvSpPr txBox="1"/>
          <p:nvPr/>
        </p:nvSpPr>
        <p:spPr>
          <a:xfrm>
            <a:off x="609600" y="3873500"/>
            <a:ext cx="558800" cy="558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FBF7F0"/>
                </a:solidFill>
              </a:rPr>
              <a:t>03</a:t>
            </a:r>
          </a:p>
        </p:txBody>
      </p:sp>
      <p:sp>
        <p:nvSpPr>
          <p:cNvPr id="132" name="Titulo"/>
          <p:cNvSpPr txBox="1"/>
          <p:nvPr/>
        </p:nvSpPr>
        <p:spPr>
          <a:xfrm>
            <a:off x="1778000" y="3695700"/>
            <a:ext cx="9652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Vulnerabilidade neuronal</a:t>
            </a:r>
          </a:p>
        </p:txBody>
      </p:sp>
      <p:sp>
        <p:nvSpPr>
          <p:cNvPr id="142" name="Desc"/>
          <p:cNvSpPr txBox="1"/>
          <p:nvPr/>
        </p:nvSpPr>
        <p:spPr>
          <a:xfrm>
            <a:off x="1778000" y="4102100"/>
            <a:ext cx="9652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Menor capacidade de reserva e reparo cerebral</a:t>
            </a:r>
          </a:p>
        </p:txBody>
      </p:sp>
      <p:sp>
        <p:nvSpPr>
          <p:cNvPr id="113" name="Circ"/>
          <p:cNvSpPr/>
          <p:nvPr/>
        </p:nvSpPr>
        <p:spPr>
          <a:xfrm>
            <a:off x="609600" y="5080000"/>
            <a:ext cx="558800" cy="558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3" name="Num"/>
          <p:cNvSpPr txBox="1"/>
          <p:nvPr/>
        </p:nvSpPr>
        <p:spPr>
          <a:xfrm>
            <a:off x="609600" y="5080000"/>
            <a:ext cx="558800" cy="558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FBF7F0"/>
                </a:solidFill>
              </a:rPr>
              <a:t>04</a:t>
            </a:r>
          </a:p>
        </p:txBody>
      </p:sp>
      <p:sp>
        <p:nvSpPr>
          <p:cNvPr id="133" name="Titulo"/>
          <p:cNvSpPr txBox="1"/>
          <p:nvPr/>
        </p:nvSpPr>
        <p:spPr>
          <a:xfrm>
            <a:off x="1778000" y="4902200"/>
            <a:ext cx="9652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Repercussão cognitiva</a:t>
            </a:r>
          </a:p>
        </p:txBody>
      </p:sp>
      <p:sp>
        <p:nvSpPr>
          <p:cNvPr id="143" name="Desc"/>
          <p:cNvSpPr txBox="1"/>
          <p:nvPr/>
        </p:nvSpPr>
        <p:spPr>
          <a:xfrm>
            <a:off x="1778000" y="5308600"/>
            <a:ext cx="9652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Alterações de atenção, memória e velocidade de processamento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3352295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1016000" y="1524000"/>
            <a:ext cx="10160000" cy="3556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E8A33D"/>
                </a:solidFill>
              </a:rPr>
              <a:t>SÍNTESE</a:t>
            </a:r>
          </a:p>
        </p:txBody>
      </p:sp>
      <p:sp>
        <p:nvSpPr>
          <p:cNvPr id="61" name="Frase"/>
          <p:cNvSpPr txBox="1"/>
          <p:nvPr/>
        </p:nvSpPr>
        <p:spPr>
          <a:xfrm>
            <a:off x="1016000" y="2540000"/>
            <a:ext cx="10160000" cy="152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3600" b="1" dirty="0">
                <a:solidFill>
                  <a:srgbClr val="FBF7F0"/>
                </a:solidFill>
              </a:rPr>
              <a:t>Corpo e cérebro envelhecem juntos.</a:t>
            </a:r>
          </a:p>
        </p:txBody>
      </p:sp>
      <p:sp>
        <p:nvSpPr>
          <p:cNvPr id="62" name="Linha"/>
          <p:cNvSpPr/>
          <p:nvPr/>
        </p:nvSpPr>
        <p:spPr>
          <a:xfrm>
            <a:off x="5461000" y="4381500"/>
            <a:ext cx="1270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038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EFD10-68D6-D1BF-3F10-E2BBBF265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Implicações para a avaliação</a:t>
            </a:r>
          </a:p>
        </p:txBody>
      </p:sp>
      <p:sp>
        <p:nvSpPr>
          <p:cNvPr id="210" name="Num"/>
          <p:cNvSpPr txBox="1"/>
          <p:nvPr/>
        </p:nvSpPr>
        <p:spPr>
          <a:xfrm>
            <a:off x="457200" y="1524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01</a:t>
            </a:r>
          </a:p>
        </p:txBody>
      </p:sp>
      <p:sp>
        <p:nvSpPr>
          <p:cNvPr id="220" name="Titulo"/>
          <p:cNvSpPr txBox="1"/>
          <p:nvPr/>
        </p:nvSpPr>
        <p:spPr>
          <a:xfrm>
            <a:off x="1397000" y="1498600"/>
            <a:ext cx="3556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Horário de melhor disposição</a:t>
            </a:r>
          </a:p>
        </p:txBody>
      </p:sp>
      <p:sp>
        <p:nvSpPr>
          <p:cNvPr id="230" name="Desc"/>
          <p:cNvSpPr txBox="1"/>
          <p:nvPr/>
        </p:nvSpPr>
        <p:spPr>
          <a:xfrm>
            <a:off x="5207000" y="1498600"/>
            <a:ext cx="65278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Agendar a avaliação no período de melhor desempenho do paciente</a:t>
            </a:r>
          </a:p>
        </p:txBody>
      </p:sp>
      <p:sp>
        <p:nvSpPr>
          <p:cNvPr id="201" name="Sep"/>
          <p:cNvSpPr/>
          <p:nvPr/>
        </p:nvSpPr>
        <p:spPr>
          <a:xfrm>
            <a:off x="457200" y="254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11" name="Num"/>
          <p:cNvSpPr txBox="1"/>
          <p:nvPr/>
        </p:nvSpPr>
        <p:spPr>
          <a:xfrm>
            <a:off x="457200" y="2667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02</a:t>
            </a:r>
          </a:p>
        </p:txBody>
      </p:sp>
      <p:sp>
        <p:nvSpPr>
          <p:cNvPr id="221" name="Titulo"/>
          <p:cNvSpPr txBox="1"/>
          <p:nvPr/>
        </p:nvSpPr>
        <p:spPr>
          <a:xfrm>
            <a:off x="1397000" y="2641600"/>
            <a:ext cx="3556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Fadiga</a:t>
            </a:r>
          </a:p>
        </p:txBody>
      </p:sp>
      <p:sp>
        <p:nvSpPr>
          <p:cNvPr id="231" name="Desc"/>
          <p:cNvSpPr txBox="1"/>
          <p:nvPr/>
        </p:nvSpPr>
        <p:spPr>
          <a:xfrm>
            <a:off x="5207000" y="2641600"/>
            <a:ext cx="65278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Prever pausas e sessões mais curtas quando necessário</a:t>
            </a:r>
          </a:p>
        </p:txBody>
      </p:sp>
      <p:sp>
        <p:nvSpPr>
          <p:cNvPr id="202" name="Sep"/>
          <p:cNvSpPr/>
          <p:nvPr/>
        </p:nvSpPr>
        <p:spPr>
          <a:xfrm>
            <a:off x="457200" y="3683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12" name="Num"/>
          <p:cNvSpPr txBox="1"/>
          <p:nvPr/>
        </p:nvSpPr>
        <p:spPr>
          <a:xfrm>
            <a:off x="457200" y="3810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03</a:t>
            </a:r>
          </a:p>
        </p:txBody>
      </p:sp>
      <p:sp>
        <p:nvSpPr>
          <p:cNvPr id="222" name="Titulo"/>
          <p:cNvSpPr txBox="1"/>
          <p:nvPr/>
        </p:nvSpPr>
        <p:spPr>
          <a:xfrm>
            <a:off x="1397000" y="3784600"/>
            <a:ext cx="3556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Corrigir sensorial</a:t>
            </a:r>
          </a:p>
        </p:txBody>
      </p:sp>
      <p:sp>
        <p:nvSpPr>
          <p:cNvPr id="232" name="Desc"/>
          <p:cNvSpPr txBox="1"/>
          <p:nvPr/>
        </p:nvSpPr>
        <p:spPr>
          <a:xfrm>
            <a:off x="5207000" y="3784600"/>
            <a:ext cx="65278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Garantir uso de óculos e aparelhos auditivos durante a testagem</a:t>
            </a:r>
          </a:p>
        </p:txBody>
      </p:sp>
      <p:sp>
        <p:nvSpPr>
          <p:cNvPr id="203" name="Sep"/>
          <p:cNvSpPr/>
          <p:nvPr/>
        </p:nvSpPr>
        <p:spPr>
          <a:xfrm>
            <a:off x="457200" y="4826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13" name="Num"/>
          <p:cNvSpPr txBox="1"/>
          <p:nvPr/>
        </p:nvSpPr>
        <p:spPr>
          <a:xfrm>
            <a:off x="457200" y="4953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04</a:t>
            </a:r>
          </a:p>
        </p:txBody>
      </p:sp>
      <p:sp>
        <p:nvSpPr>
          <p:cNvPr id="223" name="Titulo"/>
          <p:cNvSpPr txBox="1"/>
          <p:nvPr/>
        </p:nvSpPr>
        <p:spPr>
          <a:xfrm>
            <a:off x="1397000" y="4927600"/>
            <a:ext cx="3556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Revisar medicações</a:t>
            </a:r>
          </a:p>
        </p:txBody>
      </p:sp>
      <p:sp>
        <p:nvSpPr>
          <p:cNvPr id="233" name="Desc"/>
          <p:cNvSpPr txBox="1"/>
          <p:nvPr/>
        </p:nvSpPr>
        <p:spPr>
          <a:xfrm>
            <a:off x="5207000" y="4927600"/>
            <a:ext cx="65278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Checar fármacos que possam afetar o desempenho cognitivo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716167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3F99F-A306-96E6-ABFF-CD2348B0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Recapitulando: sistema × repercussão cognitiva</a:t>
            </a:r>
          </a:p>
        </p:txBody>
      </p:sp>
      <p:sp>
        <p:nvSpPr>
          <p:cNvPr id="100" name="Card"/>
          <p:cNvSpPr/>
          <p:nvPr/>
        </p:nvSpPr>
        <p:spPr>
          <a:xfrm>
            <a:off x="457200" y="1397000"/>
            <a:ext cx="35814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0" name="Titulo"/>
          <p:cNvSpPr txBox="1"/>
          <p:nvPr/>
        </p:nvSpPr>
        <p:spPr>
          <a:xfrm>
            <a:off x="660400" y="1625600"/>
            <a:ext cx="31750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Cardiovascular</a:t>
            </a:r>
          </a:p>
        </p:txBody>
      </p:sp>
      <p:sp>
        <p:nvSpPr>
          <p:cNvPr id="140" name="Desc"/>
          <p:cNvSpPr txBox="1"/>
          <p:nvPr/>
        </p:nvSpPr>
        <p:spPr>
          <a:xfrm>
            <a:off x="660400" y="2235200"/>
            <a:ext cx="3175000" cy="1079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17262B"/>
                </a:solidFill>
              </a:rPr>
              <a:t>Perfusão cerebral reduzida</a:t>
            </a:r>
          </a:p>
        </p:txBody>
      </p:sp>
      <p:sp>
        <p:nvSpPr>
          <p:cNvPr id="101" name="Card"/>
          <p:cNvSpPr/>
          <p:nvPr/>
        </p:nvSpPr>
        <p:spPr>
          <a:xfrm>
            <a:off x="4305300" y="1397000"/>
            <a:ext cx="35814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1" name="Titulo"/>
          <p:cNvSpPr txBox="1"/>
          <p:nvPr/>
        </p:nvSpPr>
        <p:spPr>
          <a:xfrm>
            <a:off x="4508500" y="1625600"/>
            <a:ext cx="31750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Respiratório / Renal</a:t>
            </a:r>
          </a:p>
        </p:txBody>
      </p:sp>
      <p:sp>
        <p:nvSpPr>
          <p:cNvPr id="141" name="Desc"/>
          <p:cNvSpPr txBox="1"/>
          <p:nvPr/>
        </p:nvSpPr>
        <p:spPr>
          <a:xfrm>
            <a:off x="4508500" y="2235200"/>
            <a:ext cx="3175000" cy="1079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17262B"/>
                </a:solidFill>
              </a:rPr>
              <a:t>Hipóxia e alteração farmacológica</a:t>
            </a:r>
          </a:p>
        </p:txBody>
      </p:sp>
      <p:sp>
        <p:nvSpPr>
          <p:cNvPr id="102" name="Card"/>
          <p:cNvSpPr/>
          <p:nvPr/>
        </p:nvSpPr>
        <p:spPr>
          <a:xfrm>
            <a:off x="8153400" y="1397000"/>
            <a:ext cx="35814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2" name="Titulo"/>
          <p:cNvSpPr txBox="1"/>
          <p:nvPr/>
        </p:nvSpPr>
        <p:spPr>
          <a:xfrm>
            <a:off x="8356600" y="1625600"/>
            <a:ext cx="31750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Endócrino</a:t>
            </a:r>
          </a:p>
        </p:txBody>
      </p:sp>
      <p:sp>
        <p:nvSpPr>
          <p:cNvPr id="142" name="Desc"/>
          <p:cNvSpPr txBox="1"/>
          <p:nvPr/>
        </p:nvSpPr>
        <p:spPr>
          <a:xfrm>
            <a:off x="8356600" y="2235200"/>
            <a:ext cx="3175000" cy="1079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17262B"/>
                </a:solidFill>
              </a:rPr>
              <a:t>Risco metabólico e hormonal</a:t>
            </a:r>
          </a:p>
        </p:txBody>
      </p:sp>
      <p:sp>
        <p:nvSpPr>
          <p:cNvPr id="103" name="Card"/>
          <p:cNvSpPr/>
          <p:nvPr/>
        </p:nvSpPr>
        <p:spPr>
          <a:xfrm>
            <a:off x="457200" y="3746500"/>
            <a:ext cx="35814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3" name="Titulo"/>
          <p:cNvSpPr txBox="1"/>
          <p:nvPr/>
        </p:nvSpPr>
        <p:spPr>
          <a:xfrm>
            <a:off x="660400" y="3975100"/>
            <a:ext cx="31750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Musculoesquelético</a:t>
            </a:r>
          </a:p>
        </p:txBody>
      </p:sp>
      <p:sp>
        <p:nvSpPr>
          <p:cNvPr id="143" name="Desc"/>
          <p:cNvSpPr txBox="1"/>
          <p:nvPr/>
        </p:nvSpPr>
        <p:spPr>
          <a:xfrm>
            <a:off x="660400" y="4584700"/>
            <a:ext cx="3175000" cy="1079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17262B"/>
                </a:solidFill>
              </a:rPr>
              <a:t>Fragilidade física</a:t>
            </a:r>
          </a:p>
        </p:txBody>
      </p:sp>
      <p:sp>
        <p:nvSpPr>
          <p:cNvPr id="104" name="Card"/>
          <p:cNvSpPr/>
          <p:nvPr/>
        </p:nvSpPr>
        <p:spPr>
          <a:xfrm>
            <a:off x="4305300" y="3746500"/>
            <a:ext cx="35814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4" name="Titulo"/>
          <p:cNvSpPr txBox="1"/>
          <p:nvPr/>
        </p:nvSpPr>
        <p:spPr>
          <a:xfrm>
            <a:off x="4508500" y="3975100"/>
            <a:ext cx="31750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Sensorial</a:t>
            </a:r>
          </a:p>
        </p:txBody>
      </p:sp>
      <p:sp>
        <p:nvSpPr>
          <p:cNvPr id="144" name="Desc"/>
          <p:cNvSpPr txBox="1"/>
          <p:nvPr/>
        </p:nvSpPr>
        <p:spPr>
          <a:xfrm>
            <a:off x="4508500" y="4584700"/>
            <a:ext cx="3175000" cy="1079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17262B"/>
                </a:solidFill>
              </a:rPr>
              <a:t>Contaminação da avaliação cognitiva</a:t>
            </a:r>
          </a:p>
        </p:txBody>
      </p:sp>
      <p:sp>
        <p:nvSpPr>
          <p:cNvPr id="105" name="Card"/>
          <p:cNvSpPr/>
          <p:nvPr/>
        </p:nvSpPr>
        <p:spPr>
          <a:xfrm>
            <a:off x="8153400" y="3746500"/>
            <a:ext cx="35814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5" name="Titulo"/>
          <p:cNvSpPr txBox="1"/>
          <p:nvPr/>
        </p:nvSpPr>
        <p:spPr>
          <a:xfrm>
            <a:off x="8356600" y="3975100"/>
            <a:ext cx="31750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Farmacológico</a:t>
            </a:r>
          </a:p>
        </p:txBody>
      </p:sp>
      <p:sp>
        <p:nvSpPr>
          <p:cNvPr id="145" name="Desc"/>
          <p:cNvSpPr txBox="1"/>
          <p:nvPr/>
        </p:nvSpPr>
        <p:spPr>
          <a:xfrm>
            <a:off x="8356600" y="4584700"/>
            <a:ext cx="3175000" cy="1079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17262B"/>
                </a:solidFill>
              </a:rPr>
              <a:t>Rebaixamento cognitivo iatrogênico</a:t>
            </a:r>
          </a:p>
        </p:txBody>
      </p:sp>
      <p:sp>
        <p:nvSpPr>
          <p:cNvPr id="241" name="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2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02 — Modificações fisiológicas</a:t>
            </a:r>
          </a:p>
        </p:txBody>
      </p:sp>
      <p:sp>
        <p:nvSpPr>
          <p:cNvPr id="243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2655969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1016000"/>
            <a:ext cx="112776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E8A33D"/>
                </a:solidFill>
              </a:rPr>
              <a:t>TAKE-HOME · AULA 02</a:t>
            </a:r>
          </a:p>
        </p:txBody>
      </p:sp>
      <p:sp>
        <p:nvSpPr>
          <p:cNvPr id="61" name="Frase"/>
          <p:cNvSpPr txBox="1"/>
          <p:nvPr/>
        </p:nvSpPr>
        <p:spPr>
          <a:xfrm>
            <a:off x="1016000" y="2286000"/>
            <a:ext cx="10160000" cy="165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3400" b="1" dirty="0">
                <a:solidFill>
                  <a:srgbClr val="FBF7F0"/>
                </a:solidFill>
              </a:rPr>
              <a:t>Reserva funcional que cai no corpo prepara o terreno cognitivo.</a:t>
            </a:r>
          </a:p>
        </p:txBody>
      </p:sp>
      <p:sp>
        <p:nvSpPr>
          <p:cNvPr id="62" name="Linha"/>
          <p:cNvSpPr/>
          <p:nvPr/>
        </p:nvSpPr>
        <p:spPr>
          <a:xfrm>
            <a:off x="5461000" y="4318000"/>
            <a:ext cx="1270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3" name="Proxima"/>
          <p:cNvSpPr txBox="1"/>
          <p:nvPr/>
        </p:nvSpPr>
        <p:spPr>
          <a:xfrm>
            <a:off x="1016000" y="5080000"/>
            <a:ext cx="101600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E8A33D"/>
                </a:solidFill>
              </a:rPr>
              <a:t>Próxima aula →</a:t>
            </a:r>
            <a:r>
              <a:rPr lang="pt-BR" sz="1600" dirty="0">
                <a:solidFill>
                  <a:srgbClr val="8BBBC4"/>
                </a:solidFill>
              </a:rPr>
              <a:t> Envelhecimento normal do sistema nervoso</a:t>
            </a:r>
          </a:p>
        </p:txBody>
      </p:sp>
    </p:spTree>
    <p:extLst>
      <p:ext uri="{BB962C8B-B14F-4D97-AF65-F5344CB8AC3E}">
        <p14:creationId xmlns:p14="http://schemas.microsoft.com/office/powerpoint/2010/main" val="3296430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762000"/>
            <a:ext cx="762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E8A33D"/>
                </a:solidFill>
              </a:rPr>
              <a:t>MÓDULO 1 · NEUROPSICOLOGIA II</a:t>
            </a:r>
          </a:p>
        </p:txBody>
      </p:sp>
      <p:sp>
        <p:nvSpPr>
          <p:cNvPr id="61" name="Numeral"/>
          <p:cNvSpPr txBox="1"/>
          <p:nvPr/>
        </p:nvSpPr>
        <p:spPr>
          <a:xfrm>
            <a:off x="457200" y="1270000"/>
            <a:ext cx="8890000" cy="1397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8800" b="1" dirty="0">
                <a:solidFill>
                  <a:srgbClr val="E8A33D"/>
                </a:solidFill>
              </a:rPr>
              <a:t>AULA 03</a:t>
            </a:r>
          </a:p>
        </p:txBody>
      </p:sp>
      <p:sp>
        <p:nvSpPr>
          <p:cNvPr id="62" name="Titulo"/>
          <p:cNvSpPr txBox="1"/>
          <p:nvPr/>
        </p:nvSpPr>
        <p:spPr>
          <a:xfrm>
            <a:off x="457200" y="2794000"/>
            <a:ext cx="10922000" cy="1143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3600" b="1" dirty="0">
                <a:solidFill>
                  <a:srgbClr val="FBF7F0"/>
                </a:solidFill>
              </a:rPr>
              <a:t>Envelhecimento normal do sistema nervoso</a:t>
            </a:r>
          </a:p>
        </p:txBody>
      </p:sp>
      <p:sp>
        <p:nvSpPr>
          <p:cNvPr id="63" name="Linha"/>
          <p:cNvSpPr/>
          <p:nvPr/>
        </p:nvSpPr>
        <p:spPr>
          <a:xfrm>
            <a:off x="457200" y="4191000"/>
            <a:ext cx="1143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4" name="Subtitulo"/>
          <p:cNvSpPr txBox="1"/>
          <p:nvPr/>
        </p:nvSpPr>
        <p:spPr>
          <a:xfrm>
            <a:off x="457200" y="4445000"/>
            <a:ext cx="8890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8BBBC4"/>
                </a:solidFill>
              </a:rPr>
              <a:t>18/08 · Capítulo 4 — Malloy-Diniz, Fuentes &amp; Cosenza</a:t>
            </a:r>
          </a:p>
        </p:txBody>
      </p:sp>
    </p:spTree>
    <p:extLst>
      <p:ext uri="{BB962C8B-B14F-4D97-AF65-F5344CB8AC3E}">
        <p14:creationId xmlns:p14="http://schemas.microsoft.com/office/powerpoint/2010/main" val="3239150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1016000" y="1143000"/>
            <a:ext cx="10160000" cy="3556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E8A33D"/>
                </a:solidFill>
              </a:rPr>
              <a:t>PARA REFLETIR</a:t>
            </a:r>
          </a:p>
        </p:txBody>
      </p:sp>
      <p:sp>
        <p:nvSpPr>
          <p:cNvPr id="61" name="Frase"/>
          <p:cNvSpPr txBox="1"/>
          <p:nvPr/>
        </p:nvSpPr>
        <p:spPr>
          <a:xfrm>
            <a:off x="1016000" y="2286000"/>
            <a:ext cx="10160000" cy="152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3600" b="1" dirty="0">
                <a:solidFill>
                  <a:srgbClr val="FBF7F0"/>
                </a:solidFill>
              </a:rPr>
              <a:t>O cérebro que envelhece bem.</a:t>
            </a:r>
          </a:p>
        </p:txBody>
      </p:sp>
      <p:sp>
        <p:nvSpPr>
          <p:cNvPr id="62" name="Linha"/>
          <p:cNvSpPr/>
          <p:nvPr/>
        </p:nvSpPr>
        <p:spPr>
          <a:xfrm>
            <a:off x="5461000" y="4064000"/>
            <a:ext cx="1270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3" name="Subtitulo"/>
          <p:cNvSpPr txBox="1"/>
          <p:nvPr/>
        </p:nvSpPr>
        <p:spPr>
          <a:xfrm>
            <a:off x="1651000" y="4381500"/>
            <a:ext cx="8890000" cy="508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dirty="0">
                <a:solidFill>
                  <a:srgbClr val="8BBBC4"/>
                </a:solidFill>
              </a:rPr>
              <a:t>Hoje o foco é no envelhecimento normal — não na doença.</a:t>
            </a:r>
          </a:p>
        </p:txBody>
      </p:sp>
    </p:spTree>
    <p:extLst>
      <p:ext uri="{BB962C8B-B14F-4D97-AF65-F5344CB8AC3E}">
        <p14:creationId xmlns:p14="http://schemas.microsoft.com/office/powerpoint/2010/main" val="2583988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CA060-B278-FDAD-CF5B-7CB71A95F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Objetivos da aula</a:t>
            </a:r>
          </a:p>
        </p:txBody>
      </p:sp>
      <p:sp>
        <p:nvSpPr>
          <p:cNvPr id="100" name="Card"/>
          <p:cNvSpPr/>
          <p:nvPr/>
        </p:nvSpPr>
        <p:spPr>
          <a:xfrm>
            <a:off x="457200" y="1397000"/>
            <a:ext cx="3454400" cy="444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0" name="Num"/>
          <p:cNvSpPr txBox="1"/>
          <p:nvPr/>
        </p:nvSpPr>
        <p:spPr>
          <a:xfrm>
            <a:off x="711200" y="16510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E8A33D"/>
                </a:solidFill>
              </a:rPr>
              <a:t>01</a:t>
            </a:r>
          </a:p>
        </p:txBody>
      </p:sp>
      <p:sp>
        <p:nvSpPr>
          <p:cNvPr id="120" name="Titulo"/>
          <p:cNvSpPr txBox="1"/>
          <p:nvPr/>
        </p:nvSpPr>
        <p:spPr>
          <a:xfrm>
            <a:off x="711200" y="2603500"/>
            <a:ext cx="29464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17262B"/>
                </a:solidFill>
              </a:rPr>
              <a:t>Descrever</a:t>
            </a:r>
          </a:p>
        </p:txBody>
      </p:sp>
      <p:sp>
        <p:nvSpPr>
          <p:cNvPr id="130" name="Desc"/>
          <p:cNvSpPr txBox="1"/>
          <p:nvPr/>
        </p:nvSpPr>
        <p:spPr>
          <a:xfrm>
            <a:off x="711200" y="3302000"/>
            <a:ext cx="2946400" cy="228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Mudanças estruturais normais do sistema nervoso</a:t>
            </a:r>
          </a:p>
        </p:txBody>
      </p:sp>
      <p:sp>
        <p:nvSpPr>
          <p:cNvPr id="101" name="Card"/>
          <p:cNvSpPr/>
          <p:nvPr/>
        </p:nvSpPr>
        <p:spPr>
          <a:xfrm>
            <a:off x="4165600" y="1397000"/>
            <a:ext cx="3454400" cy="444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1" name="Num"/>
          <p:cNvSpPr txBox="1"/>
          <p:nvPr/>
        </p:nvSpPr>
        <p:spPr>
          <a:xfrm>
            <a:off x="4419600" y="16510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E8A33D"/>
                </a:solidFill>
              </a:rPr>
              <a:t>02</a:t>
            </a:r>
          </a:p>
        </p:txBody>
      </p:sp>
      <p:sp>
        <p:nvSpPr>
          <p:cNvPr id="121" name="Titulo"/>
          <p:cNvSpPr txBox="1"/>
          <p:nvPr/>
        </p:nvSpPr>
        <p:spPr>
          <a:xfrm>
            <a:off x="4419600" y="2603500"/>
            <a:ext cx="29464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17262B"/>
                </a:solidFill>
              </a:rPr>
              <a:t>Explicar</a:t>
            </a:r>
          </a:p>
        </p:txBody>
      </p:sp>
      <p:sp>
        <p:nvSpPr>
          <p:cNvPr id="131" name="Desc"/>
          <p:cNvSpPr txBox="1"/>
          <p:nvPr/>
        </p:nvSpPr>
        <p:spPr>
          <a:xfrm>
            <a:off x="4419600" y="3302000"/>
            <a:ext cx="2946400" cy="228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Mudanças neuroquímicas e funcionais associadas</a:t>
            </a:r>
          </a:p>
        </p:txBody>
      </p:sp>
      <p:sp>
        <p:nvSpPr>
          <p:cNvPr id="102" name="Card"/>
          <p:cNvSpPr/>
          <p:nvPr/>
        </p:nvSpPr>
        <p:spPr>
          <a:xfrm>
            <a:off x="7874000" y="1397000"/>
            <a:ext cx="3454400" cy="444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2" name="Num"/>
          <p:cNvSpPr txBox="1"/>
          <p:nvPr/>
        </p:nvSpPr>
        <p:spPr>
          <a:xfrm>
            <a:off x="8128000" y="16510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E8A33D"/>
                </a:solidFill>
              </a:rPr>
              <a:t>03</a:t>
            </a:r>
          </a:p>
        </p:txBody>
      </p:sp>
      <p:sp>
        <p:nvSpPr>
          <p:cNvPr id="122" name="Titulo"/>
          <p:cNvSpPr txBox="1"/>
          <p:nvPr/>
        </p:nvSpPr>
        <p:spPr>
          <a:xfrm>
            <a:off x="8128000" y="2603500"/>
            <a:ext cx="29464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900" b="1" dirty="0">
                <a:solidFill>
                  <a:srgbClr val="17262B"/>
                </a:solidFill>
              </a:rPr>
              <a:t>Compreender</a:t>
            </a:r>
          </a:p>
        </p:txBody>
      </p:sp>
      <p:sp>
        <p:nvSpPr>
          <p:cNvPr id="132" name="Desc"/>
          <p:cNvSpPr txBox="1"/>
          <p:nvPr/>
        </p:nvSpPr>
        <p:spPr>
          <a:xfrm>
            <a:off x="8128000" y="3302000"/>
            <a:ext cx="2946400" cy="228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O papel da reserva cerebral e cognitiva</a:t>
            </a:r>
          </a:p>
        </p:txBody>
      </p:sp>
      <p:sp>
        <p:nvSpPr>
          <p:cNvPr id="240" name="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2970176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A50EB-2336-BFF3-1E76-BCEBB418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Roteiro da aula</a:t>
            </a:r>
          </a:p>
        </p:txBody>
      </p:sp>
      <p:sp>
        <p:nvSpPr>
          <p:cNvPr id="100" name="Circ"/>
          <p:cNvSpPr/>
          <p:nvPr/>
        </p:nvSpPr>
        <p:spPr>
          <a:xfrm>
            <a:off x="1066800" y="2286000"/>
            <a:ext cx="812800" cy="812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0" name="Num"/>
          <p:cNvSpPr txBox="1"/>
          <p:nvPr/>
        </p:nvSpPr>
        <p:spPr>
          <a:xfrm>
            <a:off x="1066800" y="2286000"/>
            <a:ext cx="812800" cy="812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rgbClr val="FBF7F0"/>
                </a:solidFill>
              </a:rPr>
              <a:t>1</a:t>
            </a:r>
          </a:p>
        </p:txBody>
      </p:sp>
      <p:sp>
        <p:nvSpPr>
          <p:cNvPr id="140" name="Label"/>
          <p:cNvSpPr txBox="1"/>
          <p:nvPr/>
        </p:nvSpPr>
        <p:spPr>
          <a:xfrm>
            <a:off x="457200" y="3302000"/>
            <a:ext cx="2032000" cy="762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Macroestrutura</a:t>
            </a:r>
          </a:p>
        </p:txBody>
      </p:sp>
      <p:sp>
        <p:nvSpPr>
          <p:cNvPr id="101" name="Circ"/>
          <p:cNvSpPr/>
          <p:nvPr/>
        </p:nvSpPr>
        <p:spPr>
          <a:xfrm>
            <a:off x="3378200" y="2286000"/>
            <a:ext cx="812800" cy="812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1" name="Num"/>
          <p:cNvSpPr txBox="1"/>
          <p:nvPr/>
        </p:nvSpPr>
        <p:spPr>
          <a:xfrm>
            <a:off x="3378200" y="2286000"/>
            <a:ext cx="812800" cy="812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rgbClr val="FBF7F0"/>
                </a:solidFill>
              </a:rPr>
              <a:t>2</a:t>
            </a:r>
          </a:p>
        </p:txBody>
      </p:sp>
      <p:sp>
        <p:nvSpPr>
          <p:cNvPr id="141" name="Label"/>
          <p:cNvSpPr txBox="1"/>
          <p:nvPr/>
        </p:nvSpPr>
        <p:spPr>
          <a:xfrm>
            <a:off x="2768600" y="3302000"/>
            <a:ext cx="2032000" cy="762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Microestrutura</a:t>
            </a:r>
          </a:p>
        </p:txBody>
      </p:sp>
      <p:sp>
        <p:nvSpPr>
          <p:cNvPr id="102" name="Circ"/>
          <p:cNvSpPr/>
          <p:nvPr/>
        </p:nvSpPr>
        <p:spPr>
          <a:xfrm>
            <a:off x="5689600" y="2286000"/>
            <a:ext cx="812800" cy="812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2" name="Num"/>
          <p:cNvSpPr txBox="1"/>
          <p:nvPr/>
        </p:nvSpPr>
        <p:spPr>
          <a:xfrm>
            <a:off x="5689600" y="2286000"/>
            <a:ext cx="812800" cy="812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rgbClr val="FBF7F0"/>
                </a:solidFill>
              </a:rPr>
              <a:t>3</a:t>
            </a:r>
          </a:p>
        </p:txBody>
      </p:sp>
      <p:sp>
        <p:nvSpPr>
          <p:cNvPr id="142" name="Label"/>
          <p:cNvSpPr txBox="1"/>
          <p:nvPr/>
        </p:nvSpPr>
        <p:spPr>
          <a:xfrm>
            <a:off x="5080000" y="3302000"/>
            <a:ext cx="2032000" cy="762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Neuroquímica</a:t>
            </a:r>
          </a:p>
        </p:txBody>
      </p:sp>
      <p:sp>
        <p:nvSpPr>
          <p:cNvPr id="103" name="Circ"/>
          <p:cNvSpPr/>
          <p:nvPr/>
        </p:nvSpPr>
        <p:spPr>
          <a:xfrm>
            <a:off x="8001000" y="2286000"/>
            <a:ext cx="812800" cy="812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3" name="Num"/>
          <p:cNvSpPr txBox="1"/>
          <p:nvPr/>
        </p:nvSpPr>
        <p:spPr>
          <a:xfrm>
            <a:off x="8001000" y="2286000"/>
            <a:ext cx="812800" cy="812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rgbClr val="FBF7F0"/>
                </a:solidFill>
              </a:rPr>
              <a:t>4</a:t>
            </a:r>
          </a:p>
        </p:txBody>
      </p:sp>
      <p:sp>
        <p:nvSpPr>
          <p:cNvPr id="143" name="Label"/>
          <p:cNvSpPr txBox="1"/>
          <p:nvPr/>
        </p:nvSpPr>
        <p:spPr>
          <a:xfrm>
            <a:off x="7391400" y="3302000"/>
            <a:ext cx="2032000" cy="762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Funcional</a:t>
            </a:r>
          </a:p>
        </p:txBody>
      </p:sp>
      <p:sp>
        <p:nvSpPr>
          <p:cNvPr id="104" name="Circ"/>
          <p:cNvSpPr/>
          <p:nvPr/>
        </p:nvSpPr>
        <p:spPr>
          <a:xfrm>
            <a:off x="10312400" y="2286000"/>
            <a:ext cx="812800" cy="812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4" name="Num"/>
          <p:cNvSpPr txBox="1"/>
          <p:nvPr/>
        </p:nvSpPr>
        <p:spPr>
          <a:xfrm>
            <a:off x="10312400" y="2286000"/>
            <a:ext cx="812800" cy="812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rgbClr val="FBF7F0"/>
                </a:solidFill>
              </a:rPr>
              <a:t>5</a:t>
            </a:r>
          </a:p>
        </p:txBody>
      </p:sp>
      <p:sp>
        <p:nvSpPr>
          <p:cNvPr id="144" name="Label"/>
          <p:cNvSpPr txBox="1"/>
          <p:nvPr/>
        </p:nvSpPr>
        <p:spPr>
          <a:xfrm>
            <a:off x="9702800" y="3302000"/>
            <a:ext cx="2032000" cy="762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17262B"/>
                </a:solidFill>
              </a:rPr>
              <a:t>Reserva</a:t>
            </a:r>
          </a:p>
        </p:txBody>
      </p:sp>
      <p:sp>
        <p:nvSpPr>
          <p:cNvPr id="240" name="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32869366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1016000"/>
            <a:ext cx="889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E8A33D"/>
                </a:solidFill>
              </a:rPr>
              <a:t>SEÇÃO 1 · CAPÍTULO 4</a:t>
            </a:r>
          </a:p>
        </p:txBody>
      </p:sp>
      <p:sp>
        <p:nvSpPr>
          <p:cNvPr id="61" name="Titulo"/>
          <p:cNvSpPr txBox="1"/>
          <p:nvPr/>
        </p:nvSpPr>
        <p:spPr>
          <a:xfrm>
            <a:off x="457200" y="2794000"/>
            <a:ext cx="109220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FBF7F0"/>
                </a:solidFill>
              </a:rPr>
              <a:t>Nível macroestrutural</a:t>
            </a:r>
          </a:p>
        </p:txBody>
      </p:sp>
      <p:sp>
        <p:nvSpPr>
          <p:cNvPr id="62" name="Linha"/>
          <p:cNvSpPr/>
          <p:nvPr/>
        </p:nvSpPr>
        <p:spPr>
          <a:xfrm>
            <a:off x="457200" y="3937000"/>
            <a:ext cx="1143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4" name="Subtitulo"/>
          <p:cNvSpPr txBox="1"/>
          <p:nvPr/>
        </p:nvSpPr>
        <p:spPr>
          <a:xfrm>
            <a:off x="457200" y="4191000"/>
            <a:ext cx="8890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8BBBC4"/>
                </a:solidFill>
              </a:rPr>
              <a:t>O que muda no tamanho e forma do cérebro</a:t>
            </a:r>
          </a:p>
        </p:txBody>
      </p:sp>
    </p:spTree>
    <p:extLst>
      <p:ext uri="{BB962C8B-B14F-4D97-AF65-F5344CB8AC3E}">
        <p14:creationId xmlns:p14="http://schemas.microsoft.com/office/powerpoint/2010/main" val="3884493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3AB44-450B-6741-C49C-1B353F525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Neuroimagem esquemática: o que muda</a:t>
            </a:r>
          </a:p>
        </p:txBody>
      </p:sp>
      <p:sp>
        <p:nvSpPr>
          <p:cNvPr id="100" name="BrainYoung"/>
          <p:cNvSpPr/>
          <p:nvPr/>
        </p:nvSpPr>
        <p:spPr>
          <a:xfrm>
            <a:off x="1778000" y="1333500"/>
            <a:ext cx="3810000" cy="355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8A9A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01" name="Sulco1"/>
          <p:cNvSpPr/>
          <p:nvPr/>
        </p:nvSpPr>
        <p:spPr>
          <a:xfrm>
            <a:off x="2413000" y="1968500"/>
            <a:ext cx="762000" cy="508000"/>
          </a:xfrm>
          <a:prstGeom prst="arc">
            <a:avLst/>
          </a:prstGeom>
          <a:noFill/>
          <a:ln w="9525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02" name="Sulco2"/>
          <p:cNvSpPr/>
          <p:nvPr/>
        </p:nvSpPr>
        <p:spPr>
          <a:xfrm>
            <a:off x="4191000" y="2095500"/>
            <a:ext cx="762000" cy="508000"/>
          </a:xfrm>
          <a:prstGeom prst="arc">
            <a:avLst/>
          </a:prstGeom>
          <a:noFill/>
          <a:ln w="9525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03" name="VentYoung"/>
          <p:cNvSpPr/>
          <p:nvPr/>
        </p:nvSpPr>
        <p:spPr>
          <a:xfrm>
            <a:off x="3403600" y="2908300"/>
            <a:ext cx="558800" cy="4064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04" name="LabelYoung"/>
          <p:cNvSpPr txBox="1"/>
          <p:nvPr/>
        </p:nvSpPr>
        <p:spPr>
          <a:xfrm>
            <a:off x="1651000" y="4953000"/>
            <a:ext cx="4064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0F4C5C"/>
                </a:solidFill>
              </a:rPr>
              <a:t>Adulto jovem</a:t>
            </a:r>
          </a:p>
        </p:txBody>
      </p:sp>
      <p:sp>
        <p:nvSpPr>
          <p:cNvPr id="105" name="CaptionYoung"/>
          <p:cNvSpPr txBox="1"/>
          <p:nvPr/>
        </p:nvSpPr>
        <p:spPr>
          <a:xfrm>
            <a:off x="1651000" y="5397500"/>
            <a:ext cx="4064000" cy="635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400" dirty="0">
                <a:solidFill>
                  <a:srgbClr val="5B8A9A"/>
                </a:solidFill>
              </a:rPr>
              <a:t>Volume preservado · sulcos finos · ventrículos pequenos</a:t>
            </a:r>
          </a:p>
        </p:txBody>
      </p:sp>
      <p:sp>
        <p:nvSpPr>
          <p:cNvPr id="110" name="GhostOutline"/>
          <p:cNvSpPr/>
          <p:nvPr/>
        </p:nvSpPr>
        <p:spPr>
          <a:xfrm>
            <a:off x="6858000" y="1397000"/>
            <a:ext cx="3810000" cy="3556000"/>
          </a:xfrm>
          <a:prstGeom prst="ellipse">
            <a:avLst/>
          </a:prstGeom>
          <a:noFill/>
          <a:ln w="9525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1" name="BrainOld"/>
          <p:cNvSpPr/>
          <p:nvPr/>
        </p:nvSpPr>
        <p:spPr>
          <a:xfrm>
            <a:off x="7366000" y="1866900"/>
            <a:ext cx="2413000" cy="2260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8A9A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2" name="Sulco3"/>
          <p:cNvSpPr/>
          <p:nvPr/>
        </p:nvSpPr>
        <p:spPr>
          <a:xfrm>
            <a:off x="7620000" y="2159000"/>
            <a:ext cx="571500" cy="381000"/>
          </a:xfrm>
          <a:prstGeom prst="arc">
            <a:avLst/>
          </a:prstGeom>
          <a:noFill/>
          <a:ln w="1270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3" name="Sulco4"/>
          <p:cNvSpPr/>
          <p:nvPr/>
        </p:nvSpPr>
        <p:spPr>
          <a:xfrm>
            <a:off x="8763000" y="2222500"/>
            <a:ext cx="571500" cy="381000"/>
          </a:xfrm>
          <a:prstGeom prst="arc">
            <a:avLst/>
          </a:prstGeom>
          <a:noFill/>
          <a:ln w="1270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4" name="Sulco5"/>
          <p:cNvSpPr/>
          <p:nvPr/>
        </p:nvSpPr>
        <p:spPr>
          <a:xfrm>
            <a:off x="8191500" y="3238500"/>
            <a:ext cx="571500" cy="381000"/>
          </a:xfrm>
          <a:prstGeom prst="arc">
            <a:avLst/>
          </a:prstGeom>
          <a:noFill/>
          <a:ln w="1270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5" name="VentOld"/>
          <p:cNvSpPr/>
          <p:nvPr/>
        </p:nvSpPr>
        <p:spPr>
          <a:xfrm>
            <a:off x="8089900" y="2641600"/>
            <a:ext cx="965200" cy="7112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6" name="LabelOld"/>
          <p:cNvSpPr txBox="1"/>
          <p:nvPr/>
        </p:nvSpPr>
        <p:spPr>
          <a:xfrm>
            <a:off x="6604000" y="4635500"/>
            <a:ext cx="4064000" cy="381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0F4C5C"/>
                </a:solidFill>
              </a:rPr>
              <a:t>Pessoa idosa (normal)</a:t>
            </a:r>
          </a:p>
        </p:txBody>
      </p:sp>
      <p:sp>
        <p:nvSpPr>
          <p:cNvPr id="117" name="CaptionOld"/>
          <p:cNvSpPr txBox="1"/>
          <p:nvPr/>
        </p:nvSpPr>
        <p:spPr>
          <a:xfrm>
            <a:off x="6604000" y="5080000"/>
            <a:ext cx="4064000" cy="635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400" dirty="0">
                <a:solidFill>
                  <a:srgbClr val="5B8A9A"/>
                </a:solidFill>
              </a:rPr>
              <a:t>↓ volume · ↑ sulcos · ↑ ventrículos</a:t>
            </a:r>
          </a:p>
        </p:txBody>
      </p:sp>
      <p:sp>
        <p:nvSpPr>
          <p:cNvPr id="240" name="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932840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67989-6438-CA8B-ADA5-9FE42840A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Regiões mais e menos vulneráveis</a:t>
            </a:r>
          </a:p>
        </p:txBody>
      </p:sp>
      <p:sp>
        <p:nvSpPr>
          <p:cNvPr id="200" name="Marker"/>
          <p:cNvSpPr/>
          <p:nvPr/>
        </p:nvSpPr>
        <p:spPr>
          <a:xfrm>
            <a:off x="457200" y="1778000"/>
            <a:ext cx="355600" cy="3556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0" name="Titulo"/>
          <p:cNvSpPr txBox="1"/>
          <p:nvPr/>
        </p:nvSpPr>
        <p:spPr>
          <a:xfrm>
            <a:off x="1143000" y="1524000"/>
            <a:ext cx="635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Pré-frontal</a:t>
            </a:r>
          </a:p>
        </p:txBody>
      </p:sp>
      <p:sp>
        <p:nvSpPr>
          <p:cNvPr id="230" name="Desc"/>
          <p:cNvSpPr txBox="1"/>
          <p:nvPr/>
        </p:nvSpPr>
        <p:spPr>
          <a:xfrm>
            <a:off x="1143000" y="2006600"/>
            <a:ext cx="105918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Alta vulnerabilidade — entre as primeiras regiões a perder volume</a:t>
            </a:r>
          </a:p>
        </p:txBody>
      </p:sp>
      <p:sp>
        <p:nvSpPr>
          <p:cNvPr id="240" name="Tag"/>
          <p:cNvSpPr txBox="1"/>
          <p:nvPr/>
        </p:nvSpPr>
        <p:spPr>
          <a:xfrm>
            <a:off x="10464800" y="1549400"/>
            <a:ext cx="1270000" cy="31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b="1" dirty="0">
                <a:solidFill>
                  <a:srgbClr val="E8A33D"/>
                </a:solidFill>
              </a:rPr>
              <a:t>VULNERÁVEL</a:t>
            </a:r>
          </a:p>
        </p:txBody>
      </p:sp>
      <p:sp>
        <p:nvSpPr>
          <p:cNvPr id="201" name="Marker"/>
          <p:cNvSpPr/>
          <p:nvPr/>
        </p:nvSpPr>
        <p:spPr>
          <a:xfrm>
            <a:off x="457200" y="3302000"/>
            <a:ext cx="355600" cy="3556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1" name="Titulo"/>
          <p:cNvSpPr txBox="1"/>
          <p:nvPr/>
        </p:nvSpPr>
        <p:spPr>
          <a:xfrm>
            <a:off x="1143000" y="3048000"/>
            <a:ext cx="635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Hipocampo</a:t>
            </a:r>
          </a:p>
        </p:txBody>
      </p:sp>
      <p:sp>
        <p:nvSpPr>
          <p:cNvPr id="231" name="Desc"/>
          <p:cNvSpPr txBox="1"/>
          <p:nvPr/>
        </p:nvSpPr>
        <p:spPr>
          <a:xfrm>
            <a:off x="1143000" y="3530600"/>
            <a:ext cx="105918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Alta vulnerabilidade — sensível ao envelhecimento e à formação de memórias</a:t>
            </a:r>
          </a:p>
        </p:txBody>
      </p:sp>
      <p:sp>
        <p:nvSpPr>
          <p:cNvPr id="241" name="Tag"/>
          <p:cNvSpPr txBox="1"/>
          <p:nvPr/>
        </p:nvSpPr>
        <p:spPr>
          <a:xfrm>
            <a:off x="10464800" y="3073400"/>
            <a:ext cx="1270000" cy="31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b="1" dirty="0">
                <a:solidFill>
                  <a:srgbClr val="E8A33D"/>
                </a:solidFill>
              </a:rPr>
              <a:t>VULNERÁVEL</a:t>
            </a:r>
          </a:p>
        </p:txBody>
      </p:sp>
      <p:sp>
        <p:nvSpPr>
          <p:cNvPr id="202" name="Marker"/>
          <p:cNvSpPr/>
          <p:nvPr/>
        </p:nvSpPr>
        <p:spPr>
          <a:xfrm>
            <a:off x="457200" y="4826000"/>
            <a:ext cx="355600" cy="3556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222" name="Titulo"/>
          <p:cNvSpPr txBox="1"/>
          <p:nvPr/>
        </p:nvSpPr>
        <p:spPr>
          <a:xfrm>
            <a:off x="1143000" y="4572000"/>
            <a:ext cx="635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Córtex sensório-primário</a:t>
            </a:r>
          </a:p>
        </p:txBody>
      </p:sp>
      <p:sp>
        <p:nvSpPr>
          <p:cNvPr id="232" name="Desc"/>
          <p:cNvSpPr txBox="1"/>
          <p:nvPr/>
        </p:nvSpPr>
        <p:spPr>
          <a:xfrm>
            <a:off x="1143000" y="5054600"/>
            <a:ext cx="105918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Mais preservado — muda pouco ao longo do envelhecimento normal</a:t>
            </a:r>
          </a:p>
        </p:txBody>
      </p:sp>
      <p:sp>
        <p:nvSpPr>
          <p:cNvPr id="242" name="Tag"/>
          <p:cNvSpPr txBox="1"/>
          <p:nvPr/>
        </p:nvSpPr>
        <p:spPr>
          <a:xfrm>
            <a:off x="10464800" y="4597400"/>
            <a:ext cx="1270000" cy="31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b="1" dirty="0">
                <a:solidFill>
                  <a:srgbClr val="0F4C5C"/>
                </a:solidFill>
              </a:rPr>
              <a:t>PRESERVADO</a:t>
            </a:r>
          </a:p>
        </p:txBody>
      </p:sp>
      <p:sp>
        <p:nvSpPr>
          <p:cNvPr id="28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8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8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2439380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1016000"/>
            <a:ext cx="889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E8A33D"/>
                </a:solidFill>
              </a:rPr>
              <a:t>SEÇÃO 2 · CAPÍTULO 4</a:t>
            </a:r>
          </a:p>
        </p:txBody>
      </p:sp>
      <p:sp>
        <p:nvSpPr>
          <p:cNvPr id="61" name="Titulo"/>
          <p:cNvSpPr txBox="1"/>
          <p:nvPr/>
        </p:nvSpPr>
        <p:spPr>
          <a:xfrm>
            <a:off x="457200" y="2794000"/>
            <a:ext cx="109220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FBF7F0"/>
                </a:solidFill>
              </a:rPr>
              <a:t>Nível microestrutural</a:t>
            </a:r>
          </a:p>
        </p:txBody>
      </p:sp>
      <p:sp>
        <p:nvSpPr>
          <p:cNvPr id="62" name="Linha"/>
          <p:cNvSpPr/>
          <p:nvPr/>
        </p:nvSpPr>
        <p:spPr>
          <a:xfrm>
            <a:off x="457200" y="3937000"/>
            <a:ext cx="1143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4" name="Subtitulo"/>
          <p:cNvSpPr txBox="1"/>
          <p:nvPr/>
        </p:nvSpPr>
        <p:spPr>
          <a:xfrm>
            <a:off x="457200" y="4191000"/>
            <a:ext cx="8890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8BBBC4"/>
                </a:solidFill>
              </a:rPr>
              <a:t>O que muda nas conexões e nas células</a:t>
            </a:r>
          </a:p>
        </p:txBody>
      </p:sp>
    </p:spTree>
    <p:extLst>
      <p:ext uri="{BB962C8B-B14F-4D97-AF65-F5344CB8AC3E}">
        <p14:creationId xmlns:p14="http://schemas.microsoft.com/office/powerpoint/2010/main" val="476262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86783-9879-C9F4-2A8F-0F6798335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Alterações microestruturais</a:t>
            </a:r>
          </a:p>
        </p:txBody>
      </p:sp>
      <p:sp>
        <p:nvSpPr>
          <p:cNvPr id="210" name="Num"/>
          <p:cNvSpPr txBox="1"/>
          <p:nvPr/>
        </p:nvSpPr>
        <p:spPr>
          <a:xfrm>
            <a:off x="457200" y="1651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01</a:t>
            </a:r>
          </a:p>
        </p:txBody>
      </p:sp>
      <p:sp>
        <p:nvSpPr>
          <p:cNvPr id="220" name="Titulo"/>
          <p:cNvSpPr txBox="1"/>
          <p:nvPr/>
        </p:nvSpPr>
        <p:spPr>
          <a:xfrm>
            <a:off x="1397000" y="1625600"/>
            <a:ext cx="508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Perda sináptica &gt; perda neuronal</a:t>
            </a:r>
          </a:p>
        </p:txBody>
      </p:sp>
      <p:sp>
        <p:nvSpPr>
          <p:cNvPr id="230" name="Desc"/>
          <p:cNvSpPr txBox="1"/>
          <p:nvPr/>
        </p:nvSpPr>
        <p:spPr>
          <a:xfrm>
            <a:off x="1397000" y="2120900"/>
            <a:ext cx="103378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Reduz conexões entre neurônios mais do que elimina os próprios neurônios</a:t>
            </a:r>
          </a:p>
        </p:txBody>
      </p:sp>
      <p:sp>
        <p:nvSpPr>
          <p:cNvPr id="201" name="Sep"/>
          <p:cNvSpPr/>
          <p:nvPr/>
        </p:nvSpPr>
        <p:spPr>
          <a:xfrm>
            <a:off x="457200" y="29845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11" name="Num"/>
          <p:cNvSpPr txBox="1"/>
          <p:nvPr/>
        </p:nvSpPr>
        <p:spPr>
          <a:xfrm>
            <a:off x="457200" y="3175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02</a:t>
            </a:r>
          </a:p>
        </p:txBody>
      </p:sp>
      <p:sp>
        <p:nvSpPr>
          <p:cNvPr id="221" name="Titulo"/>
          <p:cNvSpPr txBox="1"/>
          <p:nvPr/>
        </p:nvSpPr>
        <p:spPr>
          <a:xfrm>
            <a:off x="1397000" y="3149600"/>
            <a:ext cx="508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↓ Arborização dendrítica</a:t>
            </a:r>
          </a:p>
        </p:txBody>
      </p:sp>
      <p:sp>
        <p:nvSpPr>
          <p:cNvPr id="231" name="Desc"/>
          <p:cNvSpPr txBox="1"/>
          <p:nvPr/>
        </p:nvSpPr>
        <p:spPr>
          <a:xfrm>
            <a:off x="1397000" y="3644900"/>
            <a:ext cx="103378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Menos ramificações disponíveis para receber sinais</a:t>
            </a:r>
          </a:p>
        </p:txBody>
      </p:sp>
      <p:sp>
        <p:nvSpPr>
          <p:cNvPr id="202" name="Sep"/>
          <p:cNvSpPr/>
          <p:nvPr/>
        </p:nvSpPr>
        <p:spPr>
          <a:xfrm>
            <a:off x="457200" y="45085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12" name="Num"/>
          <p:cNvSpPr txBox="1"/>
          <p:nvPr/>
        </p:nvSpPr>
        <p:spPr>
          <a:xfrm>
            <a:off x="457200" y="4699000"/>
            <a:ext cx="762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E8A33D"/>
                </a:solidFill>
              </a:rPr>
              <a:t>03</a:t>
            </a:r>
          </a:p>
        </p:txBody>
      </p:sp>
      <p:sp>
        <p:nvSpPr>
          <p:cNvPr id="222" name="Titulo"/>
          <p:cNvSpPr txBox="1"/>
          <p:nvPr/>
        </p:nvSpPr>
        <p:spPr>
          <a:xfrm>
            <a:off x="1397000" y="4673600"/>
            <a:ext cx="508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Alterações de substância branca</a:t>
            </a:r>
          </a:p>
        </p:txBody>
      </p:sp>
      <p:sp>
        <p:nvSpPr>
          <p:cNvPr id="232" name="Desc"/>
          <p:cNvSpPr txBox="1"/>
          <p:nvPr/>
        </p:nvSpPr>
        <p:spPr>
          <a:xfrm>
            <a:off x="1397000" y="5168900"/>
            <a:ext cx="103378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Mudanças na mielina que conecta diferentes regiões cerebrais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407268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D8725-3378-7C64-3648-51E28F521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Substância cinzenta × substância branca</a:t>
            </a:r>
          </a:p>
        </p:txBody>
      </p:sp>
      <p:sp>
        <p:nvSpPr>
          <p:cNvPr id="100" name="Card"/>
          <p:cNvSpPr/>
          <p:nvPr/>
        </p:nvSpPr>
        <p:spPr>
          <a:xfrm>
            <a:off x="457200" y="1460500"/>
            <a:ext cx="5410200" cy="469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0" name="Barra"/>
          <p:cNvSpPr/>
          <p:nvPr/>
        </p:nvSpPr>
        <p:spPr>
          <a:xfrm>
            <a:off x="457200" y="1460500"/>
            <a:ext cx="5410200" cy="1016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0" name="Titulo"/>
          <p:cNvSpPr txBox="1"/>
          <p:nvPr/>
        </p:nvSpPr>
        <p:spPr>
          <a:xfrm>
            <a:off x="762000" y="1841500"/>
            <a:ext cx="48006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F4C5C"/>
                </a:solidFill>
              </a:rPr>
              <a:t>Substância cinzenta</a:t>
            </a:r>
          </a:p>
        </p:txBody>
      </p:sp>
      <p:sp>
        <p:nvSpPr>
          <p:cNvPr id="130" name="Sub"/>
          <p:cNvSpPr txBox="1"/>
          <p:nvPr/>
        </p:nvSpPr>
        <p:spPr>
          <a:xfrm>
            <a:off x="762000" y="2476500"/>
            <a:ext cx="48006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i="1" dirty="0">
                <a:solidFill>
                  <a:srgbClr val="5B8A9A"/>
                </a:solidFill>
              </a:rPr>
              <a:t>Corpos neuronais</a:t>
            </a:r>
          </a:p>
        </p:txBody>
      </p:sp>
      <p:sp>
        <p:nvSpPr>
          <p:cNvPr id="140" name="Exp"/>
          <p:cNvSpPr txBox="1"/>
          <p:nvPr/>
        </p:nvSpPr>
        <p:spPr>
          <a:xfrm>
            <a:off x="762000" y="2984500"/>
            <a:ext cx="4800600" cy="190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17262B"/>
                </a:solidFill>
              </a:rPr>
              <a:t>Declínio mais linear e gradual ao longo de toda a vida adulta</a:t>
            </a:r>
          </a:p>
        </p:txBody>
      </p:sp>
      <p:sp>
        <p:nvSpPr>
          <p:cNvPr id="150" name="Resumo"/>
          <p:cNvSpPr txBox="1"/>
          <p:nvPr/>
        </p:nvSpPr>
        <p:spPr>
          <a:xfrm>
            <a:off x="762000" y="5334000"/>
            <a:ext cx="48006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Trajetória progressiva</a:t>
            </a:r>
          </a:p>
        </p:txBody>
      </p:sp>
      <p:sp>
        <p:nvSpPr>
          <p:cNvPr id="101" name="Card"/>
          <p:cNvSpPr/>
          <p:nvPr/>
        </p:nvSpPr>
        <p:spPr>
          <a:xfrm>
            <a:off x="6324600" y="1460500"/>
            <a:ext cx="5410200" cy="469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1" name="Barra"/>
          <p:cNvSpPr/>
          <p:nvPr/>
        </p:nvSpPr>
        <p:spPr>
          <a:xfrm>
            <a:off x="6324600" y="1460500"/>
            <a:ext cx="5410200" cy="101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1" name="Titulo"/>
          <p:cNvSpPr txBox="1"/>
          <p:nvPr/>
        </p:nvSpPr>
        <p:spPr>
          <a:xfrm>
            <a:off x="6629400" y="1841500"/>
            <a:ext cx="48006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E8A33D"/>
                </a:solidFill>
              </a:rPr>
              <a:t>Substância branca</a:t>
            </a:r>
          </a:p>
        </p:txBody>
      </p:sp>
      <p:sp>
        <p:nvSpPr>
          <p:cNvPr id="131" name="Sub"/>
          <p:cNvSpPr txBox="1"/>
          <p:nvPr/>
        </p:nvSpPr>
        <p:spPr>
          <a:xfrm>
            <a:off x="6629400" y="2476500"/>
            <a:ext cx="48006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i="1" dirty="0">
                <a:solidFill>
                  <a:srgbClr val="5B8A9A"/>
                </a:solidFill>
              </a:rPr>
              <a:t>Fibras mielinizadas</a:t>
            </a:r>
          </a:p>
        </p:txBody>
      </p:sp>
      <p:sp>
        <p:nvSpPr>
          <p:cNvPr id="141" name="Exp"/>
          <p:cNvSpPr txBox="1"/>
          <p:nvPr/>
        </p:nvSpPr>
        <p:spPr>
          <a:xfrm>
            <a:off x="6629400" y="2984500"/>
            <a:ext cx="4800600" cy="190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17262B"/>
                </a:solidFill>
              </a:rPr>
              <a:t>Padrão em U invertido: cresce até a meia-idade e declina depois</a:t>
            </a:r>
          </a:p>
        </p:txBody>
      </p:sp>
      <p:sp>
        <p:nvSpPr>
          <p:cNvPr id="151" name="Resumo"/>
          <p:cNvSpPr txBox="1"/>
          <p:nvPr/>
        </p:nvSpPr>
        <p:spPr>
          <a:xfrm>
            <a:off x="6629400" y="5334000"/>
            <a:ext cx="48006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E8A33D"/>
                </a:solidFill>
              </a:rPr>
              <a:t>Trajetória não linear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2305082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1016000"/>
            <a:ext cx="889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E8A33D"/>
                </a:solidFill>
              </a:rPr>
              <a:t>SEÇÃO 3 · CAPÍTULO 4</a:t>
            </a:r>
          </a:p>
        </p:txBody>
      </p:sp>
      <p:sp>
        <p:nvSpPr>
          <p:cNvPr id="61" name="Titulo"/>
          <p:cNvSpPr txBox="1"/>
          <p:nvPr/>
        </p:nvSpPr>
        <p:spPr>
          <a:xfrm>
            <a:off x="457200" y="2794000"/>
            <a:ext cx="109220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FBF7F0"/>
                </a:solidFill>
              </a:rPr>
              <a:t>Neuroquímica</a:t>
            </a:r>
          </a:p>
        </p:txBody>
      </p:sp>
      <p:sp>
        <p:nvSpPr>
          <p:cNvPr id="62" name="Linha"/>
          <p:cNvSpPr/>
          <p:nvPr/>
        </p:nvSpPr>
        <p:spPr>
          <a:xfrm>
            <a:off x="457200" y="3937000"/>
            <a:ext cx="1143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4" name="Subtitulo"/>
          <p:cNvSpPr txBox="1"/>
          <p:nvPr/>
        </p:nvSpPr>
        <p:spPr>
          <a:xfrm>
            <a:off x="457200" y="4191000"/>
            <a:ext cx="8890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8BBBC4"/>
                </a:solidFill>
              </a:rPr>
              <a:t>O que muda nos neurotransmissores</a:t>
            </a:r>
          </a:p>
        </p:txBody>
      </p:sp>
    </p:spTree>
    <p:extLst>
      <p:ext uri="{BB962C8B-B14F-4D97-AF65-F5344CB8AC3E}">
        <p14:creationId xmlns:p14="http://schemas.microsoft.com/office/powerpoint/2010/main" val="1440492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DF009-AA20-0003-ED93-3F84843D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Neurotransmissores no envelhecimento</a:t>
            </a:r>
          </a:p>
        </p:txBody>
      </p:sp>
      <p:sp>
        <p:nvSpPr>
          <p:cNvPr id="100" name="Card"/>
          <p:cNvSpPr/>
          <p:nvPr/>
        </p:nvSpPr>
        <p:spPr>
          <a:xfrm>
            <a:off x="457200" y="1397000"/>
            <a:ext cx="2628900" cy="431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0" name="Titulo"/>
          <p:cNvSpPr txBox="1"/>
          <p:nvPr/>
        </p:nvSpPr>
        <p:spPr>
          <a:xfrm>
            <a:off x="635000" y="1625600"/>
            <a:ext cx="22733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Dopamina</a:t>
            </a:r>
          </a:p>
        </p:txBody>
      </p:sp>
      <p:sp>
        <p:nvSpPr>
          <p:cNvPr id="130" name="Nivel"/>
          <p:cNvSpPr txBox="1"/>
          <p:nvPr/>
        </p:nvSpPr>
        <p:spPr>
          <a:xfrm>
            <a:off x="635000" y="2603500"/>
            <a:ext cx="22733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E8A33D"/>
                </a:solidFill>
              </a:rPr>
              <a:t>↓ marcada</a:t>
            </a:r>
          </a:p>
        </p:txBody>
      </p:sp>
      <p:sp>
        <p:nvSpPr>
          <p:cNvPr id="140" name="Desc"/>
          <p:cNvSpPr txBox="1"/>
          <p:nvPr/>
        </p:nvSpPr>
        <p:spPr>
          <a:xfrm>
            <a:off x="635000" y="3302000"/>
            <a:ext cx="2273300" cy="190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Lentificação motora e cognitiva</a:t>
            </a:r>
          </a:p>
        </p:txBody>
      </p:sp>
      <p:sp>
        <p:nvSpPr>
          <p:cNvPr id="101" name="Card"/>
          <p:cNvSpPr/>
          <p:nvPr/>
        </p:nvSpPr>
        <p:spPr>
          <a:xfrm>
            <a:off x="3340100" y="1397000"/>
            <a:ext cx="2628900" cy="431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1" name="Titulo"/>
          <p:cNvSpPr txBox="1"/>
          <p:nvPr/>
        </p:nvSpPr>
        <p:spPr>
          <a:xfrm>
            <a:off x="3517900" y="1625600"/>
            <a:ext cx="22733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Acetilcolina</a:t>
            </a:r>
          </a:p>
        </p:txBody>
      </p:sp>
      <p:sp>
        <p:nvSpPr>
          <p:cNvPr id="131" name="Nivel"/>
          <p:cNvSpPr txBox="1"/>
          <p:nvPr/>
        </p:nvSpPr>
        <p:spPr>
          <a:xfrm>
            <a:off x="3517900" y="2603500"/>
            <a:ext cx="22733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E8A33D"/>
                </a:solidFill>
              </a:rPr>
              <a:t>↓</a:t>
            </a:r>
          </a:p>
        </p:txBody>
      </p:sp>
      <p:sp>
        <p:nvSpPr>
          <p:cNvPr id="141" name="Desc"/>
          <p:cNvSpPr txBox="1"/>
          <p:nvPr/>
        </p:nvSpPr>
        <p:spPr>
          <a:xfrm>
            <a:off x="3517900" y="3302000"/>
            <a:ext cx="2273300" cy="190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Memória e atenção</a:t>
            </a:r>
          </a:p>
        </p:txBody>
      </p:sp>
      <p:sp>
        <p:nvSpPr>
          <p:cNvPr id="102" name="Card"/>
          <p:cNvSpPr/>
          <p:nvPr/>
        </p:nvSpPr>
        <p:spPr>
          <a:xfrm>
            <a:off x="6223000" y="1397000"/>
            <a:ext cx="2628900" cy="431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2" name="Titulo"/>
          <p:cNvSpPr txBox="1"/>
          <p:nvPr/>
        </p:nvSpPr>
        <p:spPr>
          <a:xfrm>
            <a:off x="6400800" y="1625600"/>
            <a:ext cx="22733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Serotonina / Noradrenalina</a:t>
            </a:r>
          </a:p>
        </p:txBody>
      </p:sp>
      <p:sp>
        <p:nvSpPr>
          <p:cNvPr id="132" name="Nivel"/>
          <p:cNvSpPr txBox="1"/>
          <p:nvPr/>
        </p:nvSpPr>
        <p:spPr>
          <a:xfrm>
            <a:off x="6400800" y="2603500"/>
            <a:ext cx="22733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E8A33D"/>
                </a:solidFill>
              </a:rPr>
              <a:t>↓ moderada</a:t>
            </a:r>
          </a:p>
        </p:txBody>
      </p:sp>
      <p:sp>
        <p:nvSpPr>
          <p:cNvPr id="142" name="Desc"/>
          <p:cNvSpPr txBox="1"/>
          <p:nvPr/>
        </p:nvSpPr>
        <p:spPr>
          <a:xfrm>
            <a:off x="6400800" y="3302000"/>
            <a:ext cx="2273300" cy="190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Humor e regulação do estresse</a:t>
            </a:r>
          </a:p>
        </p:txBody>
      </p:sp>
      <p:sp>
        <p:nvSpPr>
          <p:cNvPr id="103" name="Card"/>
          <p:cNvSpPr/>
          <p:nvPr/>
        </p:nvSpPr>
        <p:spPr>
          <a:xfrm>
            <a:off x="9105900" y="1397000"/>
            <a:ext cx="2628900" cy="431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3" name="Titulo"/>
          <p:cNvSpPr txBox="1"/>
          <p:nvPr/>
        </p:nvSpPr>
        <p:spPr>
          <a:xfrm>
            <a:off x="9283700" y="1625600"/>
            <a:ext cx="22733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0F4C5C"/>
                </a:solidFill>
              </a:rPr>
              <a:t>Glutamato / GABA</a:t>
            </a:r>
          </a:p>
        </p:txBody>
      </p:sp>
      <p:sp>
        <p:nvSpPr>
          <p:cNvPr id="133" name="Nivel"/>
          <p:cNvSpPr txBox="1"/>
          <p:nvPr/>
        </p:nvSpPr>
        <p:spPr>
          <a:xfrm>
            <a:off x="9283700" y="2603500"/>
            <a:ext cx="2273300" cy="571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E8A33D"/>
                </a:solidFill>
              </a:rPr>
              <a:t>Alterações sutis</a:t>
            </a:r>
          </a:p>
        </p:txBody>
      </p:sp>
      <p:sp>
        <p:nvSpPr>
          <p:cNvPr id="143" name="Desc"/>
          <p:cNvSpPr txBox="1"/>
          <p:nvPr/>
        </p:nvSpPr>
        <p:spPr>
          <a:xfrm>
            <a:off x="9283700" y="3302000"/>
            <a:ext cx="2273300" cy="190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Equilíbrio excitação/inibição</a:t>
            </a:r>
          </a:p>
        </p:txBody>
      </p:sp>
      <p:sp>
        <p:nvSpPr>
          <p:cNvPr id="240" name="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093237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6A3A7-DBB5-4D66-57DA-DDAE7F41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3 alvos neuroquímicos</a:t>
            </a:r>
          </a:p>
        </p:txBody>
      </p:sp>
      <p:sp>
        <p:nvSpPr>
          <p:cNvPr id="100" name="Num"/>
          <p:cNvSpPr txBox="1"/>
          <p:nvPr/>
        </p:nvSpPr>
        <p:spPr>
          <a:xfrm>
            <a:off x="457200" y="1651000"/>
            <a:ext cx="3759200" cy="127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6000" b="1" dirty="0">
                <a:solidFill>
                  <a:srgbClr val="0F4C5C"/>
                </a:solidFill>
              </a:rPr>
              <a:t>01</a:t>
            </a:r>
          </a:p>
        </p:txBody>
      </p:sp>
      <p:sp>
        <p:nvSpPr>
          <p:cNvPr id="110" name="Line"/>
          <p:cNvSpPr/>
          <p:nvPr/>
        </p:nvSpPr>
        <p:spPr>
          <a:xfrm>
            <a:off x="1772920" y="3048000"/>
            <a:ext cx="112776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0" name="Titulo"/>
          <p:cNvSpPr txBox="1"/>
          <p:nvPr/>
        </p:nvSpPr>
        <p:spPr>
          <a:xfrm>
            <a:off x="457200" y="3302000"/>
            <a:ext cx="37592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17262B"/>
                </a:solidFill>
              </a:rPr>
              <a:t>Lentificação</a:t>
            </a:r>
          </a:p>
        </p:txBody>
      </p:sp>
      <p:sp>
        <p:nvSpPr>
          <p:cNvPr id="130" name="Desc"/>
          <p:cNvSpPr txBox="1"/>
          <p:nvPr/>
        </p:nvSpPr>
        <p:spPr>
          <a:xfrm>
            <a:off x="660400" y="3937000"/>
            <a:ext cx="33528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dirty="0">
                <a:solidFill>
                  <a:srgbClr val="5B8A9A"/>
                </a:solidFill>
              </a:rPr>
              <a:t>Relacionada ao declínio dopaminérgico</a:t>
            </a:r>
          </a:p>
        </p:txBody>
      </p:sp>
      <p:sp>
        <p:nvSpPr>
          <p:cNvPr id="101" name="Num"/>
          <p:cNvSpPr txBox="1"/>
          <p:nvPr/>
        </p:nvSpPr>
        <p:spPr>
          <a:xfrm>
            <a:off x="4216400" y="1651000"/>
            <a:ext cx="3759200" cy="127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6000" b="1" dirty="0">
                <a:solidFill>
                  <a:srgbClr val="0F4C5C"/>
                </a:solidFill>
              </a:rPr>
              <a:t>02</a:t>
            </a:r>
          </a:p>
        </p:txBody>
      </p:sp>
      <p:sp>
        <p:nvSpPr>
          <p:cNvPr id="111" name="Line"/>
          <p:cNvSpPr/>
          <p:nvPr/>
        </p:nvSpPr>
        <p:spPr>
          <a:xfrm>
            <a:off x="5532120" y="3048000"/>
            <a:ext cx="112776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1" name="Titulo"/>
          <p:cNvSpPr txBox="1"/>
          <p:nvPr/>
        </p:nvSpPr>
        <p:spPr>
          <a:xfrm>
            <a:off x="4216400" y="3302000"/>
            <a:ext cx="37592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17262B"/>
                </a:solidFill>
              </a:rPr>
              <a:t>Humor</a:t>
            </a:r>
          </a:p>
        </p:txBody>
      </p:sp>
      <p:sp>
        <p:nvSpPr>
          <p:cNvPr id="131" name="Desc"/>
          <p:cNvSpPr txBox="1"/>
          <p:nvPr/>
        </p:nvSpPr>
        <p:spPr>
          <a:xfrm>
            <a:off x="4419600" y="3937000"/>
            <a:ext cx="33528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dirty="0">
                <a:solidFill>
                  <a:srgbClr val="5B8A9A"/>
                </a:solidFill>
              </a:rPr>
              <a:t>Relacionado à serotonina e noradrenalina</a:t>
            </a:r>
          </a:p>
        </p:txBody>
      </p:sp>
      <p:sp>
        <p:nvSpPr>
          <p:cNvPr id="102" name="Num"/>
          <p:cNvSpPr txBox="1"/>
          <p:nvPr/>
        </p:nvSpPr>
        <p:spPr>
          <a:xfrm>
            <a:off x="7975600" y="1651000"/>
            <a:ext cx="3759200" cy="127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6000" b="1" dirty="0">
                <a:solidFill>
                  <a:srgbClr val="0F4C5C"/>
                </a:solidFill>
              </a:rPr>
              <a:t>03</a:t>
            </a:r>
          </a:p>
        </p:txBody>
      </p:sp>
      <p:sp>
        <p:nvSpPr>
          <p:cNvPr id="112" name="Line"/>
          <p:cNvSpPr/>
          <p:nvPr/>
        </p:nvSpPr>
        <p:spPr>
          <a:xfrm>
            <a:off x="9291320" y="3048000"/>
            <a:ext cx="112776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2" name="Titulo"/>
          <p:cNvSpPr txBox="1"/>
          <p:nvPr/>
        </p:nvSpPr>
        <p:spPr>
          <a:xfrm>
            <a:off x="7975600" y="3302000"/>
            <a:ext cx="37592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1" dirty="0">
                <a:solidFill>
                  <a:srgbClr val="17262B"/>
                </a:solidFill>
              </a:rPr>
              <a:t>Memória</a:t>
            </a:r>
          </a:p>
        </p:txBody>
      </p:sp>
      <p:sp>
        <p:nvSpPr>
          <p:cNvPr id="132" name="Desc"/>
          <p:cNvSpPr txBox="1"/>
          <p:nvPr/>
        </p:nvSpPr>
        <p:spPr>
          <a:xfrm>
            <a:off x="8178800" y="3937000"/>
            <a:ext cx="3352800" cy="101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dirty="0">
                <a:solidFill>
                  <a:srgbClr val="5B8A9A"/>
                </a:solidFill>
              </a:rPr>
              <a:t>Relacionada à acetilcolina</a:t>
            </a:r>
          </a:p>
        </p:txBody>
      </p:sp>
      <p:sp>
        <p:nvSpPr>
          <p:cNvPr id="240" name="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3982432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1016000" y="1143000"/>
            <a:ext cx="1016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E8A33D"/>
                </a:solidFill>
              </a:rPr>
              <a:t>SÍNTESE PARCIAL</a:t>
            </a:r>
          </a:p>
        </p:txBody>
      </p:sp>
      <p:sp>
        <p:nvSpPr>
          <p:cNvPr id="61" name="Frase"/>
          <p:cNvSpPr txBox="1"/>
          <p:nvPr/>
        </p:nvSpPr>
        <p:spPr>
          <a:xfrm>
            <a:off x="1016000" y="2286000"/>
            <a:ext cx="10160000" cy="177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3200" b="1" dirty="0">
                <a:solidFill>
                  <a:srgbClr val="FBF7F0"/>
                </a:solidFill>
              </a:rPr>
              <a:t>Muda o hardware; o desempenho ainda se sustenta em muitos domínios.</a:t>
            </a:r>
          </a:p>
        </p:txBody>
      </p:sp>
      <p:sp>
        <p:nvSpPr>
          <p:cNvPr id="62" name="Linha"/>
          <p:cNvSpPr/>
          <p:nvPr/>
        </p:nvSpPr>
        <p:spPr>
          <a:xfrm>
            <a:off x="5461000" y="4445000"/>
            <a:ext cx="1270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476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762000"/>
            <a:ext cx="762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b="1" dirty="0">
                <a:solidFill>
                  <a:srgbClr val="E8A33D"/>
                </a:solidFill>
              </a:rPr>
              <a:t>SEÇÃO 4 · CAPÍTULO 4</a:t>
            </a:r>
          </a:p>
        </p:txBody>
      </p:sp>
      <p:sp>
        <p:nvSpPr>
          <p:cNvPr id="61" name="Titulo"/>
          <p:cNvSpPr txBox="1"/>
          <p:nvPr/>
        </p:nvSpPr>
        <p:spPr>
          <a:xfrm>
            <a:off x="457200" y="1270000"/>
            <a:ext cx="10922000" cy="1143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3600" b="1" dirty="0">
                <a:solidFill>
                  <a:srgbClr val="FBF7F0"/>
                </a:solidFill>
              </a:rPr>
              <a:t>Plasticidade e reserva</a:t>
            </a:r>
          </a:p>
        </p:txBody>
      </p:sp>
      <p:sp>
        <p:nvSpPr>
          <p:cNvPr id="62" name="Linha"/>
          <p:cNvSpPr/>
          <p:nvPr/>
        </p:nvSpPr>
        <p:spPr>
          <a:xfrm>
            <a:off x="457200" y="2667000"/>
            <a:ext cx="1143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3" name="Subtitulo"/>
          <p:cNvSpPr txBox="1"/>
          <p:nvPr/>
        </p:nvSpPr>
        <p:spPr>
          <a:xfrm>
            <a:off x="457200" y="2921000"/>
            <a:ext cx="8890000" cy="50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8BBBC4"/>
                </a:solidFill>
              </a:rPr>
              <a:t>Como o cérebro se adapta às perdas do envelhecimento</a:t>
            </a:r>
          </a:p>
        </p:txBody>
      </p:sp>
    </p:spTree>
    <p:extLst>
      <p:ext uri="{BB962C8B-B14F-4D97-AF65-F5344CB8AC3E}">
        <p14:creationId xmlns:p14="http://schemas.microsoft.com/office/powerpoint/2010/main" val="3452634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0A685-55D6-58E9-AFDC-3ACFA31C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Três conceitos de reserva</a:t>
            </a:r>
          </a:p>
        </p:txBody>
      </p:sp>
      <p:sp>
        <p:nvSpPr>
          <p:cNvPr id="100" name="Card"/>
          <p:cNvSpPr/>
          <p:nvPr/>
        </p:nvSpPr>
        <p:spPr>
          <a:xfrm>
            <a:off x="457200" y="1460500"/>
            <a:ext cx="3454400" cy="431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0" name="Num"/>
          <p:cNvSpPr txBox="1"/>
          <p:nvPr/>
        </p:nvSpPr>
        <p:spPr>
          <a:xfrm>
            <a:off x="711200" y="17145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E8A33D"/>
                </a:solidFill>
              </a:rPr>
              <a:t>01</a:t>
            </a:r>
          </a:p>
        </p:txBody>
      </p:sp>
      <p:sp>
        <p:nvSpPr>
          <p:cNvPr id="120" name="Titulo"/>
          <p:cNvSpPr txBox="1"/>
          <p:nvPr/>
        </p:nvSpPr>
        <p:spPr>
          <a:xfrm>
            <a:off x="711200" y="26670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Reserva cerebral</a:t>
            </a:r>
          </a:p>
        </p:txBody>
      </p:sp>
      <p:sp>
        <p:nvSpPr>
          <p:cNvPr id="130" name="Desc"/>
          <p:cNvSpPr txBox="1"/>
          <p:nvPr/>
        </p:nvSpPr>
        <p:spPr>
          <a:xfrm>
            <a:off x="711200" y="3556000"/>
            <a:ext cx="2946400" cy="203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Recursos anatômicos: neurônios, sinapses e volume cerebral disponíveis</a:t>
            </a:r>
          </a:p>
        </p:txBody>
      </p:sp>
      <p:sp>
        <p:nvSpPr>
          <p:cNvPr id="101" name="Card"/>
          <p:cNvSpPr/>
          <p:nvPr/>
        </p:nvSpPr>
        <p:spPr>
          <a:xfrm>
            <a:off x="4368800" y="1460500"/>
            <a:ext cx="3454400" cy="431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1" name="Num"/>
          <p:cNvSpPr txBox="1"/>
          <p:nvPr/>
        </p:nvSpPr>
        <p:spPr>
          <a:xfrm>
            <a:off x="4622800" y="17145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E8A33D"/>
                </a:solidFill>
              </a:rPr>
              <a:t>02</a:t>
            </a:r>
          </a:p>
        </p:txBody>
      </p:sp>
      <p:sp>
        <p:nvSpPr>
          <p:cNvPr id="121" name="Titulo"/>
          <p:cNvSpPr txBox="1"/>
          <p:nvPr/>
        </p:nvSpPr>
        <p:spPr>
          <a:xfrm>
            <a:off x="4622800" y="26670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Reserva cognitiva</a:t>
            </a:r>
          </a:p>
        </p:txBody>
      </p:sp>
      <p:sp>
        <p:nvSpPr>
          <p:cNvPr id="131" name="Desc"/>
          <p:cNvSpPr txBox="1"/>
          <p:nvPr/>
        </p:nvSpPr>
        <p:spPr>
          <a:xfrm>
            <a:off x="4622800" y="3556000"/>
            <a:ext cx="2946400" cy="203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Capacidade de usar redes alternativas para manter o desempenho</a:t>
            </a:r>
          </a:p>
        </p:txBody>
      </p:sp>
      <p:sp>
        <p:nvSpPr>
          <p:cNvPr id="102" name="Card"/>
          <p:cNvSpPr/>
          <p:nvPr/>
        </p:nvSpPr>
        <p:spPr>
          <a:xfrm>
            <a:off x="8280400" y="1460500"/>
            <a:ext cx="3454400" cy="431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2" name="Num"/>
          <p:cNvSpPr txBox="1"/>
          <p:nvPr/>
        </p:nvSpPr>
        <p:spPr>
          <a:xfrm>
            <a:off x="8534400" y="17145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E8A33D"/>
                </a:solidFill>
              </a:rPr>
              <a:t>03</a:t>
            </a:r>
          </a:p>
        </p:txBody>
      </p:sp>
      <p:sp>
        <p:nvSpPr>
          <p:cNvPr id="122" name="Titulo"/>
          <p:cNvSpPr txBox="1"/>
          <p:nvPr/>
        </p:nvSpPr>
        <p:spPr>
          <a:xfrm>
            <a:off x="8534400" y="2667000"/>
            <a:ext cx="2946400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800" b="1" dirty="0">
                <a:solidFill>
                  <a:srgbClr val="17262B"/>
                </a:solidFill>
              </a:rPr>
              <a:t>Manutenção cerebral</a:t>
            </a:r>
          </a:p>
        </p:txBody>
      </p:sp>
      <p:sp>
        <p:nvSpPr>
          <p:cNvPr id="132" name="Desc"/>
          <p:cNvSpPr txBox="1"/>
          <p:nvPr/>
        </p:nvSpPr>
        <p:spPr>
          <a:xfrm>
            <a:off x="8534400" y="3556000"/>
            <a:ext cx="2946400" cy="203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Grau de preservação da estrutura e função cerebral com a idade</a:t>
            </a:r>
          </a:p>
        </p:txBody>
      </p:sp>
      <p:sp>
        <p:nvSpPr>
          <p:cNvPr id="240" name="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20905338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093A4-53FF-1049-91DF-BF8B9A6A6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Compensação neural</a:t>
            </a:r>
          </a:p>
        </p:txBody>
      </p:sp>
      <p:sp>
        <p:nvSpPr>
          <p:cNvPr id="50" name="Central"/>
          <p:cNvSpPr/>
          <p:nvPr/>
        </p:nvSpPr>
        <p:spPr>
          <a:xfrm>
            <a:off x="4826000" y="1460500"/>
            <a:ext cx="2540000" cy="698500"/>
          </a:xfrm>
          <a:prstGeom prst="roundRect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51" name="CentralLabel"/>
          <p:cNvSpPr txBox="1"/>
          <p:nvPr/>
        </p:nvSpPr>
        <p:spPr>
          <a:xfrm>
            <a:off x="4826000" y="1460500"/>
            <a:ext cx="2540000" cy="698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700" b="1" dirty="0">
                <a:solidFill>
                  <a:srgbClr val="FBF7F0"/>
                </a:solidFill>
              </a:rPr>
              <a:t>Compensação neural</a:t>
            </a:r>
          </a:p>
        </p:txBody>
      </p:sp>
      <p:sp>
        <p:nvSpPr>
          <p:cNvPr id="52" name="VLine"/>
          <p:cNvSpPr/>
          <p:nvPr/>
        </p:nvSpPr>
        <p:spPr>
          <a:xfrm>
            <a:off x="6083300" y="2159000"/>
            <a:ext cx="25400" cy="508000"/>
          </a:xfrm>
          <a:prstGeom prst="rect">
            <a:avLst/>
          </a:prstGeom>
          <a:solidFill>
            <a:srgbClr val="5B8A9A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53" name="HLine"/>
          <p:cNvSpPr/>
          <p:nvPr/>
        </p:nvSpPr>
        <p:spPr>
          <a:xfrm>
            <a:off x="2540000" y="2667000"/>
            <a:ext cx="7112000" cy="25400"/>
          </a:xfrm>
          <a:prstGeom prst="rect">
            <a:avLst/>
          </a:prstGeom>
          <a:solidFill>
            <a:srgbClr val="5B8A9A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54" name="VLineL"/>
          <p:cNvSpPr/>
          <p:nvPr/>
        </p:nvSpPr>
        <p:spPr>
          <a:xfrm>
            <a:off x="2540000" y="2667000"/>
            <a:ext cx="25400" cy="508000"/>
          </a:xfrm>
          <a:prstGeom prst="rect">
            <a:avLst/>
          </a:prstGeom>
          <a:solidFill>
            <a:srgbClr val="5B8A9A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55" name="VLineR"/>
          <p:cNvSpPr/>
          <p:nvPr/>
        </p:nvSpPr>
        <p:spPr>
          <a:xfrm>
            <a:off x="9626600" y="2667000"/>
            <a:ext cx="25400" cy="508000"/>
          </a:xfrm>
          <a:prstGeom prst="rect">
            <a:avLst/>
          </a:prstGeom>
          <a:solidFill>
            <a:srgbClr val="5B8A9A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60" name="HaroldBox"/>
          <p:cNvSpPr/>
          <p:nvPr/>
        </p:nvSpPr>
        <p:spPr>
          <a:xfrm>
            <a:off x="1016000" y="3175000"/>
            <a:ext cx="4064000" cy="241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1" name="HaroldTitle"/>
          <p:cNvSpPr txBox="1"/>
          <p:nvPr/>
        </p:nvSpPr>
        <p:spPr>
          <a:xfrm>
            <a:off x="1270000" y="3403600"/>
            <a:ext cx="3556000" cy="444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F4C5C"/>
                </a:solidFill>
              </a:rPr>
              <a:t>HAROLD</a:t>
            </a:r>
          </a:p>
        </p:txBody>
      </p:sp>
      <p:sp>
        <p:nvSpPr>
          <p:cNvPr id="62" name="HaroldSub"/>
          <p:cNvSpPr txBox="1"/>
          <p:nvPr/>
        </p:nvSpPr>
        <p:spPr>
          <a:xfrm>
            <a:off x="1270000" y="3873500"/>
            <a:ext cx="3556000" cy="444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i="1" dirty="0">
                <a:solidFill>
                  <a:srgbClr val="5B8A9A"/>
                </a:solidFill>
              </a:rPr>
              <a:t>Redução da assimetria hemisférica</a:t>
            </a:r>
          </a:p>
        </p:txBody>
      </p:sp>
      <p:sp>
        <p:nvSpPr>
          <p:cNvPr id="63" name="HaroldDesc"/>
          <p:cNvSpPr txBox="1"/>
          <p:nvPr/>
        </p:nvSpPr>
        <p:spPr>
          <a:xfrm>
            <a:off x="1270000" y="4381500"/>
            <a:ext cx="3556000" cy="1016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17262B"/>
                </a:solidFill>
              </a:rPr>
              <a:t>Idosos ativam os dois hemisférios para realizar uma tarefa que, em jovens, ativa só um lado</a:t>
            </a:r>
          </a:p>
        </p:txBody>
      </p:sp>
      <p:sp>
        <p:nvSpPr>
          <p:cNvPr id="70" name="PasaBox"/>
          <p:cNvSpPr/>
          <p:nvPr/>
        </p:nvSpPr>
        <p:spPr>
          <a:xfrm>
            <a:off x="7086600" y="3175000"/>
            <a:ext cx="4064000" cy="241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71" name="PasaTitle"/>
          <p:cNvSpPr txBox="1"/>
          <p:nvPr/>
        </p:nvSpPr>
        <p:spPr>
          <a:xfrm>
            <a:off x="7340600" y="3403600"/>
            <a:ext cx="3556000" cy="444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F4C5C"/>
                </a:solidFill>
              </a:rPr>
              <a:t>PASA</a:t>
            </a:r>
          </a:p>
        </p:txBody>
      </p:sp>
      <p:sp>
        <p:nvSpPr>
          <p:cNvPr id="72" name="PasaSub"/>
          <p:cNvSpPr txBox="1"/>
          <p:nvPr/>
        </p:nvSpPr>
        <p:spPr>
          <a:xfrm>
            <a:off x="7340600" y="3873500"/>
            <a:ext cx="3556000" cy="444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i="1" dirty="0">
                <a:solidFill>
                  <a:srgbClr val="5B8A9A"/>
                </a:solidFill>
              </a:rPr>
              <a:t>Deslocamento póstero-anterior</a:t>
            </a:r>
          </a:p>
        </p:txBody>
      </p:sp>
      <p:sp>
        <p:nvSpPr>
          <p:cNvPr id="73" name="PasaDesc"/>
          <p:cNvSpPr txBox="1"/>
          <p:nvPr/>
        </p:nvSpPr>
        <p:spPr>
          <a:xfrm>
            <a:off x="7340600" y="4381500"/>
            <a:ext cx="3556000" cy="1016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17262B"/>
                </a:solidFill>
              </a:rPr>
              <a:t>A ativação migra de regiões posteriores (occipitais) para regiões anteriores (frontais)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718110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41956-D89A-BF8D-CB40-FD5CB1643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STAC: scaffolding da cognição envelhecida</a:t>
            </a:r>
          </a:p>
        </p:txBody>
      </p:sp>
      <p:sp>
        <p:nvSpPr>
          <p:cNvPr id="100" name="VLine"/>
          <p:cNvSpPr/>
          <p:nvPr/>
        </p:nvSpPr>
        <p:spPr>
          <a:xfrm>
            <a:off x="876300" y="2057400"/>
            <a:ext cx="25400" cy="31750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10" name="Circ"/>
          <p:cNvSpPr/>
          <p:nvPr/>
        </p:nvSpPr>
        <p:spPr>
          <a:xfrm>
            <a:off x="609600" y="1778000"/>
            <a:ext cx="558800" cy="558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0" name="Num"/>
          <p:cNvSpPr txBox="1"/>
          <p:nvPr/>
        </p:nvSpPr>
        <p:spPr>
          <a:xfrm>
            <a:off x="609600" y="1778000"/>
            <a:ext cx="558800" cy="558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FBF7F0"/>
                </a:solidFill>
              </a:rPr>
              <a:t>01</a:t>
            </a:r>
          </a:p>
        </p:txBody>
      </p:sp>
      <p:sp>
        <p:nvSpPr>
          <p:cNvPr id="130" name="Titulo"/>
          <p:cNvSpPr txBox="1"/>
          <p:nvPr/>
        </p:nvSpPr>
        <p:spPr>
          <a:xfrm>
            <a:off x="1778000" y="1574800"/>
            <a:ext cx="9652000" cy="4064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Declínio estrutural</a:t>
            </a:r>
          </a:p>
        </p:txBody>
      </p:sp>
      <p:sp>
        <p:nvSpPr>
          <p:cNvPr id="140" name="Desc"/>
          <p:cNvSpPr txBox="1"/>
          <p:nvPr/>
        </p:nvSpPr>
        <p:spPr>
          <a:xfrm>
            <a:off x="1778000" y="2006600"/>
            <a:ext cx="9652000" cy="4064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Perda de volume, sinapses e integridade da substância branca</a:t>
            </a:r>
          </a:p>
        </p:txBody>
      </p:sp>
      <p:sp>
        <p:nvSpPr>
          <p:cNvPr id="111" name="Circ"/>
          <p:cNvSpPr/>
          <p:nvPr/>
        </p:nvSpPr>
        <p:spPr>
          <a:xfrm>
            <a:off x="609600" y="3365500"/>
            <a:ext cx="558800" cy="558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1" name="Num"/>
          <p:cNvSpPr txBox="1"/>
          <p:nvPr/>
        </p:nvSpPr>
        <p:spPr>
          <a:xfrm>
            <a:off x="609600" y="3365500"/>
            <a:ext cx="558800" cy="558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FBF7F0"/>
                </a:solidFill>
              </a:rPr>
              <a:t>02</a:t>
            </a:r>
          </a:p>
        </p:txBody>
      </p:sp>
      <p:sp>
        <p:nvSpPr>
          <p:cNvPr id="131" name="Titulo"/>
          <p:cNvSpPr txBox="1"/>
          <p:nvPr/>
        </p:nvSpPr>
        <p:spPr>
          <a:xfrm>
            <a:off x="1778000" y="3162300"/>
            <a:ext cx="9652000" cy="4064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Circuitos alternativos (andaimes)</a:t>
            </a:r>
          </a:p>
        </p:txBody>
      </p:sp>
      <p:sp>
        <p:nvSpPr>
          <p:cNvPr id="141" name="Desc"/>
          <p:cNvSpPr txBox="1"/>
          <p:nvPr/>
        </p:nvSpPr>
        <p:spPr>
          <a:xfrm>
            <a:off x="1778000" y="3594100"/>
            <a:ext cx="9652000" cy="4064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O cérebro recruta novas redes para compensar as perdas (scaffolding)</a:t>
            </a:r>
          </a:p>
        </p:txBody>
      </p:sp>
      <p:sp>
        <p:nvSpPr>
          <p:cNvPr id="112" name="Circ"/>
          <p:cNvSpPr/>
          <p:nvPr/>
        </p:nvSpPr>
        <p:spPr>
          <a:xfrm>
            <a:off x="609600" y="4953000"/>
            <a:ext cx="558800" cy="558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FBF7F0"/>
              </a:solidFill>
            </a:endParaRPr>
          </a:p>
        </p:txBody>
      </p:sp>
      <p:sp>
        <p:nvSpPr>
          <p:cNvPr id="122" name="Num"/>
          <p:cNvSpPr txBox="1"/>
          <p:nvPr/>
        </p:nvSpPr>
        <p:spPr>
          <a:xfrm>
            <a:off x="609600" y="4953000"/>
            <a:ext cx="558800" cy="558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FBF7F0"/>
                </a:solidFill>
              </a:rPr>
              <a:t>03</a:t>
            </a:r>
          </a:p>
        </p:txBody>
      </p:sp>
      <p:sp>
        <p:nvSpPr>
          <p:cNvPr id="132" name="Titulo"/>
          <p:cNvSpPr txBox="1"/>
          <p:nvPr/>
        </p:nvSpPr>
        <p:spPr>
          <a:xfrm>
            <a:off x="1778000" y="4749800"/>
            <a:ext cx="9652000" cy="4064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700" b="1" dirty="0">
                <a:solidFill>
                  <a:srgbClr val="17262B"/>
                </a:solidFill>
              </a:rPr>
              <a:t>Desempenho preservado</a:t>
            </a:r>
          </a:p>
        </p:txBody>
      </p:sp>
      <p:sp>
        <p:nvSpPr>
          <p:cNvPr id="142" name="Desc"/>
          <p:cNvSpPr txBox="1"/>
          <p:nvPr/>
        </p:nvSpPr>
        <p:spPr>
          <a:xfrm>
            <a:off x="1778000" y="5181600"/>
            <a:ext cx="9652000" cy="4064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Muitas funções cognitivas se mantêm apesar das mudanças estruturais</a:t>
            </a:r>
          </a:p>
        </p:txBody>
      </p:sp>
      <p:sp>
        <p:nvSpPr>
          <p:cNvPr id="199" name="Cite"/>
          <p:cNvSpPr txBox="1"/>
          <p:nvPr/>
        </p:nvSpPr>
        <p:spPr>
          <a:xfrm>
            <a:off x="1778000" y="5588000"/>
            <a:ext cx="9652000" cy="3048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i="1" dirty="0">
                <a:solidFill>
                  <a:srgbClr val="5B8A9A"/>
                </a:solidFill>
              </a:rPr>
              <a:t>Park &amp; Reuter-Lorenz (2009); STAC-r (2014)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9855367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66B5B-9B07-FC72-EEF3-08477C0F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O que constrói reserva</a:t>
            </a:r>
          </a:p>
        </p:txBody>
      </p:sp>
      <p:sp>
        <p:nvSpPr>
          <p:cNvPr id="200" name="CircBg"/>
          <p:cNvSpPr/>
          <p:nvPr/>
        </p:nvSpPr>
        <p:spPr>
          <a:xfrm>
            <a:off x="457200" y="1270000"/>
            <a:ext cx="762000" cy="762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0" name="Titulo"/>
          <p:cNvSpPr txBox="1"/>
          <p:nvPr/>
        </p:nvSpPr>
        <p:spPr>
          <a:xfrm>
            <a:off x="1460500" y="1320800"/>
            <a:ext cx="3810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Escolaridade</a:t>
            </a:r>
          </a:p>
        </p:txBody>
      </p:sp>
      <p:sp>
        <p:nvSpPr>
          <p:cNvPr id="230" name="Desc"/>
          <p:cNvSpPr txBox="1"/>
          <p:nvPr/>
        </p:nvSpPr>
        <p:spPr>
          <a:xfrm>
            <a:off x="1460500" y="1701800"/>
            <a:ext cx="98425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Anos de estudo formal associados a maior reserva cognitiva</a:t>
            </a:r>
          </a:p>
        </p:txBody>
      </p:sp>
      <p:sp>
        <p:nvSpPr>
          <p:cNvPr id="201" name="CircBg"/>
          <p:cNvSpPr/>
          <p:nvPr/>
        </p:nvSpPr>
        <p:spPr>
          <a:xfrm>
            <a:off x="457200" y="2336800"/>
            <a:ext cx="762000" cy="762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1" name="Titulo"/>
          <p:cNvSpPr txBox="1"/>
          <p:nvPr/>
        </p:nvSpPr>
        <p:spPr>
          <a:xfrm>
            <a:off x="1460500" y="2387600"/>
            <a:ext cx="3810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Ocupação exigente</a:t>
            </a:r>
          </a:p>
        </p:txBody>
      </p:sp>
      <p:sp>
        <p:nvSpPr>
          <p:cNvPr id="231" name="Desc"/>
          <p:cNvSpPr txBox="1"/>
          <p:nvPr/>
        </p:nvSpPr>
        <p:spPr>
          <a:xfrm>
            <a:off x="1460500" y="2768600"/>
            <a:ext cx="98425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Profissões complexas estimulam continuamente o cérebro</a:t>
            </a:r>
          </a:p>
        </p:txBody>
      </p:sp>
      <p:sp>
        <p:nvSpPr>
          <p:cNvPr id="202" name="CircBg"/>
          <p:cNvSpPr/>
          <p:nvPr/>
        </p:nvSpPr>
        <p:spPr>
          <a:xfrm>
            <a:off x="457200" y="3403600"/>
            <a:ext cx="762000" cy="762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2" name="Titulo"/>
          <p:cNvSpPr txBox="1"/>
          <p:nvPr/>
        </p:nvSpPr>
        <p:spPr>
          <a:xfrm>
            <a:off x="1460500" y="3454400"/>
            <a:ext cx="3810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Atividade física</a:t>
            </a:r>
          </a:p>
        </p:txBody>
      </p:sp>
      <p:sp>
        <p:nvSpPr>
          <p:cNvPr id="232" name="Desc"/>
          <p:cNvSpPr txBox="1"/>
          <p:nvPr/>
        </p:nvSpPr>
        <p:spPr>
          <a:xfrm>
            <a:off x="1460500" y="3835400"/>
            <a:ext cx="98425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Exercício regular favorece a saúde vascular e cerebral</a:t>
            </a:r>
          </a:p>
        </p:txBody>
      </p:sp>
      <p:sp>
        <p:nvSpPr>
          <p:cNvPr id="203" name="CircBg"/>
          <p:cNvSpPr/>
          <p:nvPr/>
        </p:nvSpPr>
        <p:spPr>
          <a:xfrm>
            <a:off x="457200" y="4470400"/>
            <a:ext cx="762000" cy="762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3" name="Titulo"/>
          <p:cNvSpPr txBox="1"/>
          <p:nvPr/>
        </p:nvSpPr>
        <p:spPr>
          <a:xfrm>
            <a:off x="1460500" y="4521200"/>
            <a:ext cx="3810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Engajamento social</a:t>
            </a:r>
          </a:p>
        </p:txBody>
      </p:sp>
      <p:sp>
        <p:nvSpPr>
          <p:cNvPr id="233" name="Desc"/>
          <p:cNvSpPr txBox="1"/>
          <p:nvPr/>
        </p:nvSpPr>
        <p:spPr>
          <a:xfrm>
            <a:off x="1460500" y="4902200"/>
            <a:ext cx="98425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Vínculos e interações sociais protegem a cognição</a:t>
            </a:r>
          </a:p>
        </p:txBody>
      </p:sp>
      <p:sp>
        <p:nvSpPr>
          <p:cNvPr id="204" name="CircBg"/>
          <p:cNvSpPr/>
          <p:nvPr/>
        </p:nvSpPr>
        <p:spPr>
          <a:xfrm>
            <a:off x="457200" y="5537200"/>
            <a:ext cx="762000" cy="762000"/>
          </a:xfrm>
          <a:prstGeom prst="ellipse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24" name="Titulo"/>
          <p:cNvSpPr txBox="1"/>
          <p:nvPr/>
        </p:nvSpPr>
        <p:spPr>
          <a:xfrm>
            <a:off x="1460500" y="5588000"/>
            <a:ext cx="3810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17262B"/>
                </a:solidFill>
              </a:rPr>
              <a:t>Bilinguismo</a:t>
            </a:r>
          </a:p>
        </p:txBody>
      </p:sp>
      <p:sp>
        <p:nvSpPr>
          <p:cNvPr id="234" name="Desc"/>
          <p:cNvSpPr txBox="1"/>
          <p:nvPr/>
        </p:nvSpPr>
        <p:spPr>
          <a:xfrm>
            <a:off x="1460500" y="5969000"/>
            <a:ext cx="98425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Uso de dois ou mais idiomas exercita o controle cognitivo</a:t>
            </a:r>
          </a:p>
        </p:txBody>
      </p:sp>
      <p:sp>
        <p:nvSpPr>
          <p:cNvPr id="24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72</a:t>
            </a:r>
          </a:p>
        </p:txBody>
      </p:sp>
      <p:pic>
        <p:nvPicPr>
          <p:cNvPr id="243" name="Graphic 243" descr="Escolaridade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09600" y="1422400"/>
            <a:ext cx="457200" cy="457200"/>
          </a:xfrm>
          <a:prstGeom prst="rect">
            <a:avLst/>
          </a:prstGeom>
        </p:spPr>
      </p:pic>
      <p:pic>
        <p:nvPicPr>
          <p:cNvPr id="244" name="Graphic 244" descr="Ocupação exigente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09600" y="2489200"/>
            <a:ext cx="457200" cy="457200"/>
          </a:xfrm>
          <a:prstGeom prst="rect">
            <a:avLst/>
          </a:prstGeom>
        </p:spPr>
      </p:pic>
      <p:pic>
        <p:nvPicPr>
          <p:cNvPr id="245" name="Graphic 245" descr="Atividade física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09600" y="3556000"/>
            <a:ext cx="457200" cy="457200"/>
          </a:xfrm>
          <a:prstGeom prst="rect">
            <a:avLst/>
          </a:prstGeom>
        </p:spPr>
      </p:pic>
      <p:pic>
        <p:nvPicPr>
          <p:cNvPr id="246" name="Graphic 246" descr="Engajamento social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09600" y="4622800"/>
            <a:ext cx="457200" cy="457200"/>
          </a:xfrm>
          <a:prstGeom prst="rect">
            <a:avLst/>
          </a:prstGeom>
        </p:spPr>
      </p:pic>
      <p:pic>
        <p:nvPicPr>
          <p:cNvPr id="247" name="Graphic 247" descr="Bilinguismo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09600" y="56896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57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2A427-D139-1E04-1D52-B4F3E2CFB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O paradoxo da reserva</a:t>
            </a:r>
          </a:p>
        </p:txBody>
      </p:sp>
      <p:sp>
        <p:nvSpPr>
          <p:cNvPr id="50" name="Card"/>
          <p:cNvSpPr/>
          <p:nvPr/>
        </p:nvSpPr>
        <p:spPr>
          <a:xfrm>
            <a:off x="457200" y="1333500"/>
            <a:ext cx="5080000" cy="495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51" name="Label1"/>
          <p:cNvSpPr txBox="1"/>
          <p:nvPr/>
        </p:nvSpPr>
        <p:spPr>
          <a:xfrm>
            <a:off x="762000" y="1905000"/>
            <a:ext cx="2032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E8A33D"/>
                </a:solidFill>
              </a:rPr>
              <a:t>Imagem: lesões</a:t>
            </a:r>
          </a:p>
        </p:txBody>
      </p:sp>
      <p:sp>
        <p:nvSpPr>
          <p:cNvPr id="52" name="Label2"/>
          <p:cNvSpPr txBox="1"/>
          <p:nvPr/>
        </p:nvSpPr>
        <p:spPr>
          <a:xfrm>
            <a:off x="2743200" y="1905000"/>
            <a:ext cx="203200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0F4C5C"/>
                </a:solidFill>
              </a:rPr>
              <a:t>Pessoa: funcional</a:t>
            </a:r>
          </a:p>
        </p:txBody>
      </p:sp>
      <p:sp>
        <p:nvSpPr>
          <p:cNvPr id="53" name="Caption"/>
          <p:cNvSpPr txBox="1"/>
          <p:nvPr/>
        </p:nvSpPr>
        <p:spPr>
          <a:xfrm>
            <a:off x="762000" y="5461000"/>
            <a:ext cx="43180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i="1" dirty="0">
                <a:solidFill>
                  <a:srgbClr val="5B8A9A"/>
                </a:solidFill>
              </a:rPr>
              <a:t>Mesma pessoa: muita patologia na imagem, cognição preservada</a:t>
            </a:r>
          </a:p>
        </p:txBody>
      </p:sp>
      <p:sp>
        <p:nvSpPr>
          <p:cNvPr id="70" name="BulletTxt"/>
          <p:cNvSpPr txBox="1"/>
          <p:nvPr/>
        </p:nvSpPr>
        <p:spPr>
          <a:xfrm>
            <a:off x="5969000" y="1651000"/>
            <a:ext cx="5461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28600" indent="-228600">
              <a:buFont typeface="Arial"/>
              <a:buChar char="•"/>
            </a:pPr>
            <a:r>
              <a:rPr lang="pt-BR" sz="1500" dirty="0">
                <a:solidFill>
                  <a:srgbClr val="17262B"/>
                </a:solidFill>
              </a:rPr>
              <a:t>Exame de imagem revela múltiplas lesões vasculares</a:t>
            </a:r>
          </a:p>
        </p:txBody>
      </p:sp>
      <p:sp>
        <p:nvSpPr>
          <p:cNvPr id="71" name="BulletTxt"/>
          <p:cNvSpPr txBox="1"/>
          <p:nvPr/>
        </p:nvSpPr>
        <p:spPr>
          <a:xfrm>
            <a:off x="5969000" y="2730500"/>
            <a:ext cx="5461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28600" indent="-228600">
              <a:buFont typeface="Arial"/>
              <a:buChar char="•"/>
            </a:pPr>
            <a:r>
              <a:rPr lang="pt-BR" sz="1500" dirty="0">
                <a:solidFill>
                  <a:srgbClr val="17262B"/>
                </a:solidFill>
              </a:rPr>
              <a:t>Avaliação neuropsicológica não encontra prejuízo funcional relevante</a:t>
            </a:r>
          </a:p>
        </p:txBody>
      </p:sp>
      <p:sp>
        <p:nvSpPr>
          <p:cNvPr id="72" name="BulletTxt"/>
          <p:cNvSpPr txBox="1"/>
          <p:nvPr/>
        </p:nvSpPr>
        <p:spPr>
          <a:xfrm>
            <a:off x="5969000" y="3810000"/>
            <a:ext cx="5461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28600" indent="-228600">
              <a:buFont typeface="Arial"/>
              <a:buChar char="•"/>
            </a:pPr>
            <a:r>
              <a:rPr lang="pt-BR" sz="1500" dirty="0">
                <a:solidFill>
                  <a:srgbClr val="17262B"/>
                </a:solidFill>
              </a:rPr>
              <a:t>Paciente mantém autonomia total nas atividades diárias</a:t>
            </a:r>
          </a:p>
        </p:txBody>
      </p:sp>
      <p:sp>
        <p:nvSpPr>
          <p:cNvPr id="73" name="BulletTxt"/>
          <p:cNvSpPr txBox="1"/>
          <p:nvPr/>
        </p:nvSpPr>
        <p:spPr>
          <a:xfrm>
            <a:off x="5969000" y="4889500"/>
            <a:ext cx="5461000" cy="889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28600" indent="-228600">
              <a:buFont typeface="Arial"/>
              <a:buChar char="•"/>
            </a:pPr>
            <a:r>
              <a:rPr lang="pt-BR" sz="1500" b="1" dirty="0">
                <a:solidFill>
                  <a:srgbClr val="17262B"/>
                </a:solidFill>
              </a:rPr>
              <a:t>Reserva cognitiva elevada explica a discrepância entre imagem e função</a:t>
            </a:r>
          </a:p>
        </p:txBody>
      </p:sp>
      <p:sp>
        <p:nvSpPr>
          <p:cNvPr id="240" name="Card"/>
          <p:cNvSpPr/>
          <p:nvPr/>
        </p:nvSpPr>
        <p:spPr>
          <a:xfrm>
            <a:off x="457200" y="6350000"/>
            <a:ext cx="11277600" cy="12700"/>
          </a:xfrm>
          <a:prstGeom prst="roundRect">
            <a:avLst>
              <a:gd name="adj" fmla="val 5000"/>
            </a:avLst>
          </a:prstGeom>
          <a:solidFill>
            <a:srgbClr val="E7DFD2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73</a:t>
            </a:r>
          </a:p>
        </p:txBody>
      </p:sp>
      <p:pic>
        <p:nvPicPr>
          <p:cNvPr id="243" name="Graphic 243" descr="Lesões na imagem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52500" y="2476500"/>
            <a:ext cx="1397000" cy="1397000"/>
          </a:xfrm>
          <a:prstGeom prst="rect">
            <a:avLst/>
          </a:prstGeom>
        </p:spPr>
      </p:pic>
      <p:pic>
        <p:nvPicPr>
          <p:cNvPr id="244" name="Graphic 244" descr="Pessoa funcional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933700" y="2476500"/>
            <a:ext cx="1397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106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1016000" y="1143000"/>
            <a:ext cx="101600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E8A33D"/>
                </a:solidFill>
              </a:rPr>
              <a:t>SÍNTESE PARCIAL</a:t>
            </a:r>
          </a:p>
        </p:txBody>
      </p:sp>
      <p:sp>
        <p:nvSpPr>
          <p:cNvPr id="61" name="Frase"/>
          <p:cNvSpPr txBox="1"/>
          <p:nvPr/>
        </p:nvSpPr>
        <p:spPr>
          <a:xfrm>
            <a:off x="1016000" y="2286000"/>
            <a:ext cx="10160000" cy="177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3200" b="1" dirty="0">
                <a:solidFill>
                  <a:srgbClr val="FBF7F0"/>
                </a:solidFill>
              </a:rPr>
              <a:t>O cérebro idoso é plástico — envelhecer é também se adaptar.</a:t>
            </a:r>
          </a:p>
        </p:txBody>
      </p:sp>
      <p:sp>
        <p:nvSpPr>
          <p:cNvPr id="62" name="Linha"/>
          <p:cNvSpPr/>
          <p:nvPr/>
        </p:nvSpPr>
        <p:spPr>
          <a:xfrm>
            <a:off x="5461000" y="4445000"/>
            <a:ext cx="1270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0608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656FF-34A8-73EB-604E-11ABB02B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698500"/>
          </a:xfrm>
        </p:spPr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17262B"/>
                </a:solidFill>
              </a:rPr>
              <a:t>Recapitulando os 5 níveis</a:t>
            </a:r>
          </a:p>
        </p:txBody>
      </p:sp>
      <p:sp>
        <p:nvSpPr>
          <p:cNvPr id="100" name="Card"/>
          <p:cNvSpPr/>
          <p:nvPr/>
        </p:nvSpPr>
        <p:spPr>
          <a:xfrm>
            <a:off x="457200" y="1778000"/>
            <a:ext cx="21336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0" name="Num"/>
          <p:cNvSpPr txBox="1"/>
          <p:nvPr/>
        </p:nvSpPr>
        <p:spPr>
          <a:xfrm>
            <a:off x="584200" y="1981200"/>
            <a:ext cx="1879600" cy="508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200" b="1" dirty="0">
                <a:solidFill>
                  <a:srgbClr val="E8A33D"/>
                </a:solidFill>
              </a:rPr>
              <a:t>01</a:t>
            </a:r>
          </a:p>
        </p:txBody>
      </p:sp>
      <p:sp>
        <p:nvSpPr>
          <p:cNvPr id="140" name="Titulo"/>
          <p:cNvSpPr txBox="1"/>
          <p:nvPr/>
        </p:nvSpPr>
        <p:spPr>
          <a:xfrm>
            <a:off x="584200" y="2565400"/>
            <a:ext cx="1879600" cy="571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0F4C5C"/>
                </a:solidFill>
              </a:rPr>
              <a:t>Macroestrutura</a:t>
            </a:r>
          </a:p>
        </p:txBody>
      </p:sp>
      <p:sp>
        <p:nvSpPr>
          <p:cNvPr id="160" name="Desc"/>
          <p:cNvSpPr txBox="1"/>
          <p:nvPr/>
        </p:nvSpPr>
        <p:spPr>
          <a:xfrm>
            <a:off x="609600" y="3200400"/>
            <a:ext cx="1828800" cy="1905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300" dirty="0">
                <a:solidFill>
                  <a:srgbClr val="5B8A9A"/>
                </a:solidFill>
              </a:rPr>
              <a:t>↓ volume, ↑ sulcos e ventrículos</a:t>
            </a:r>
          </a:p>
        </p:txBody>
      </p:sp>
      <p:sp>
        <p:nvSpPr>
          <p:cNvPr id="101" name="Card"/>
          <p:cNvSpPr/>
          <p:nvPr/>
        </p:nvSpPr>
        <p:spPr>
          <a:xfrm>
            <a:off x="2819400" y="1778000"/>
            <a:ext cx="21336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1" name="Num"/>
          <p:cNvSpPr txBox="1"/>
          <p:nvPr/>
        </p:nvSpPr>
        <p:spPr>
          <a:xfrm>
            <a:off x="2946400" y="1981200"/>
            <a:ext cx="1879600" cy="508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200" b="1" dirty="0">
                <a:solidFill>
                  <a:srgbClr val="E8A33D"/>
                </a:solidFill>
              </a:rPr>
              <a:t>02</a:t>
            </a:r>
          </a:p>
        </p:txBody>
      </p:sp>
      <p:sp>
        <p:nvSpPr>
          <p:cNvPr id="141" name="Titulo"/>
          <p:cNvSpPr txBox="1"/>
          <p:nvPr/>
        </p:nvSpPr>
        <p:spPr>
          <a:xfrm>
            <a:off x="2946400" y="2565400"/>
            <a:ext cx="1879600" cy="571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0F4C5C"/>
                </a:solidFill>
              </a:rPr>
              <a:t>Microestrutura</a:t>
            </a:r>
          </a:p>
        </p:txBody>
      </p:sp>
      <p:sp>
        <p:nvSpPr>
          <p:cNvPr id="161" name="Desc"/>
          <p:cNvSpPr txBox="1"/>
          <p:nvPr/>
        </p:nvSpPr>
        <p:spPr>
          <a:xfrm>
            <a:off x="2971800" y="3200400"/>
            <a:ext cx="1828800" cy="1905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300" dirty="0">
                <a:solidFill>
                  <a:srgbClr val="5B8A9A"/>
                </a:solidFill>
              </a:rPr>
              <a:t>Perda sináptica &gt; perda neuronal</a:t>
            </a:r>
          </a:p>
        </p:txBody>
      </p:sp>
      <p:sp>
        <p:nvSpPr>
          <p:cNvPr id="102" name="Card"/>
          <p:cNvSpPr/>
          <p:nvPr/>
        </p:nvSpPr>
        <p:spPr>
          <a:xfrm>
            <a:off x="5181600" y="1778000"/>
            <a:ext cx="21336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2" name="Num"/>
          <p:cNvSpPr txBox="1"/>
          <p:nvPr/>
        </p:nvSpPr>
        <p:spPr>
          <a:xfrm>
            <a:off x="5308600" y="1981200"/>
            <a:ext cx="1879600" cy="508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200" b="1" dirty="0">
                <a:solidFill>
                  <a:srgbClr val="E8A33D"/>
                </a:solidFill>
              </a:rPr>
              <a:t>03</a:t>
            </a:r>
          </a:p>
        </p:txBody>
      </p:sp>
      <p:sp>
        <p:nvSpPr>
          <p:cNvPr id="142" name="Titulo"/>
          <p:cNvSpPr txBox="1"/>
          <p:nvPr/>
        </p:nvSpPr>
        <p:spPr>
          <a:xfrm>
            <a:off x="5308600" y="2565400"/>
            <a:ext cx="1879600" cy="571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0F4C5C"/>
                </a:solidFill>
              </a:rPr>
              <a:t>Neuroquímica</a:t>
            </a:r>
          </a:p>
        </p:txBody>
      </p:sp>
      <p:sp>
        <p:nvSpPr>
          <p:cNvPr id="162" name="Desc"/>
          <p:cNvSpPr txBox="1"/>
          <p:nvPr/>
        </p:nvSpPr>
        <p:spPr>
          <a:xfrm>
            <a:off x="5334000" y="3200400"/>
            <a:ext cx="1828800" cy="1905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300" dirty="0">
                <a:solidFill>
                  <a:srgbClr val="5B8A9A"/>
                </a:solidFill>
              </a:rPr>
              <a:t>↓ dopamina, acetilcolina e outros</a:t>
            </a:r>
          </a:p>
        </p:txBody>
      </p:sp>
      <p:sp>
        <p:nvSpPr>
          <p:cNvPr id="103" name="Card"/>
          <p:cNvSpPr/>
          <p:nvPr/>
        </p:nvSpPr>
        <p:spPr>
          <a:xfrm>
            <a:off x="7543800" y="1778000"/>
            <a:ext cx="21336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3" name="Num"/>
          <p:cNvSpPr txBox="1"/>
          <p:nvPr/>
        </p:nvSpPr>
        <p:spPr>
          <a:xfrm>
            <a:off x="7670800" y="1981200"/>
            <a:ext cx="1879600" cy="508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200" b="1" dirty="0">
                <a:solidFill>
                  <a:srgbClr val="E8A33D"/>
                </a:solidFill>
              </a:rPr>
              <a:t>04</a:t>
            </a:r>
          </a:p>
        </p:txBody>
      </p:sp>
      <p:sp>
        <p:nvSpPr>
          <p:cNvPr id="143" name="Titulo"/>
          <p:cNvSpPr txBox="1"/>
          <p:nvPr/>
        </p:nvSpPr>
        <p:spPr>
          <a:xfrm>
            <a:off x="7670800" y="2565400"/>
            <a:ext cx="1879600" cy="571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0F4C5C"/>
                </a:solidFill>
              </a:rPr>
              <a:t>Funcional</a:t>
            </a:r>
          </a:p>
        </p:txBody>
      </p:sp>
      <p:sp>
        <p:nvSpPr>
          <p:cNvPr id="163" name="Desc"/>
          <p:cNvSpPr txBox="1"/>
          <p:nvPr/>
        </p:nvSpPr>
        <p:spPr>
          <a:xfrm>
            <a:off x="7696200" y="3200400"/>
            <a:ext cx="1828800" cy="1905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300" dirty="0">
                <a:solidFill>
                  <a:srgbClr val="5B8A9A"/>
                </a:solidFill>
              </a:rPr>
              <a:t>Lentificação, desempenho preservado</a:t>
            </a:r>
          </a:p>
        </p:txBody>
      </p:sp>
      <p:sp>
        <p:nvSpPr>
          <p:cNvPr id="104" name="Card"/>
          <p:cNvSpPr/>
          <p:nvPr/>
        </p:nvSpPr>
        <p:spPr>
          <a:xfrm>
            <a:off x="9906000" y="1778000"/>
            <a:ext cx="21336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7DFD2"/>
            </a:solidFill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124" name="Num"/>
          <p:cNvSpPr txBox="1"/>
          <p:nvPr/>
        </p:nvSpPr>
        <p:spPr>
          <a:xfrm>
            <a:off x="10033000" y="1981200"/>
            <a:ext cx="1879600" cy="508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2200" b="1" dirty="0">
                <a:solidFill>
                  <a:srgbClr val="E8A33D"/>
                </a:solidFill>
              </a:rPr>
              <a:t>05</a:t>
            </a:r>
          </a:p>
        </p:txBody>
      </p:sp>
      <p:sp>
        <p:nvSpPr>
          <p:cNvPr id="144" name="Titulo"/>
          <p:cNvSpPr txBox="1"/>
          <p:nvPr/>
        </p:nvSpPr>
        <p:spPr>
          <a:xfrm>
            <a:off x="10033000" y="2565400"/>
            <a:ext cx="1879600" cy="5715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0F4C5C"/>
                </a:solidFill>
              </a:rPr>
              <a:t>Reserva</a:t>
            </a:r>
          </a:p>
        </p:txBody>
      </p:sp>
      <p:sp>
        <p:nvSpPr>
          <p:cNvPr id="164" name="Desc"/>
          <p:cNvSpPr txBox="1"/>
          <p:nvPr/>
        </p:nvSpPr>
        <p:spPr>
          <a:xfrm>
            <a:off x="10058400" y="3200400"/>
            <a:ext cx="1828800" cy="1905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300" dirty="0">
                <a:solidFill>
                  <a:srgbClr val="5B8A9A"/>
                </a:solidFill>
              </a:rPr>
              <a:t>Fator protetor individual</a:t>
            </a:r>
          </a:p>
        </p:txBody>
      </p:sp>
      <p:sp>
        <p:nvSpPr>
          <p:cNvPr id="240" name="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E7DFD2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241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5B8A9A"/>
                </a:solidFill>
              </a:rPr>
              <a:t>Neuropsicologia II · Aula 03 — Envelhecimento normal do SN</a:t>
            </a:r>
          </a:p>
        </p:txBody>
      </p:sp>
      <p:sp>
        <p:nvSpPr>
          <p:cNvPr id="242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17262B"/>
                </a:solidFill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3135076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QuoteMark"/>
          <p:cNvSpPr txBox="1"/>
          <p:nvPr/>
        </p:nvSpPr>
        <p:spPr>
          <a:xfrm>
            <a:off x="762000" y="1524000"/>
            <a:ext cx="1143000" cy="1143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7200" b="1" dirty="0">
                <a:solidFill>
                  <a:srgbClr val="E8A33D"/>
                </a:solidFill>
              </a:rPr>
              <a:t>“</a:t>
            </a:r>
          </a:p>
        </p:txBody>
      </p:sp>
      <p:sp>
        <p:nvSpPr>
          <p:cNvPr id="51" name="QuoteText"/>
          <p:cNvSpPr txBox="1"/>
          <p:nvPr/>
        </p:nvSpPr>
        <p:spPr>
          <a:xfrm>
            <a:off x="1270000" y="2413000"/>
            <a:ext cx="9652000" cy="2286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2400" i="1" dirty="0">
                <a:solidFill>
                  <a:srgbClr val="FBF7F0"/>
                </a:solidFill>
              </a:rPr>
              <a:t>A plasticidade cerebral não termina na juventude — o cérebro continua se reorganizando e se adaptando ao longo de toda a vida.</a:t>
            </a:r>
          </a:p>
        </p:txBody>
      </p:sp>
      <p:sp>
        <p:nvSpPr>
          <p:cNvPr id="52" name="Atribuicao"/>
          <p:cNvSpPr txBox="1"/>
          <p:nvPr/>
        </p:nvSpPr>
        <p:spPr>
          <a:xfrm>
            <a:off x="1270000" y="5080000"/>
            <a:ext cx="8890000" cy="444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8BBBC4"/>
                </a:solidFill>
              </a:rPr>
              <a:t>— Reflexão de fechamento, cap. 4</a:t>
            </a:r>
          </a:p>
        </p:txBody>
      </p:sp>
      <p:sp>
        <p:nvSpPr>
          <p:cNvPr id="240" name="FooterLeft"/>
          <p:cNvSpPr txBox="1"/>
          <p:nvPr/>
        </p:nvSpPr>
        <p:spPr>
          <a:xfrm>
            <a:off x="457200" y="6426200"/>
            <a:ext cx="5969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None/>
            </a:pPr>
            <a:r>
              <a:rPr lang="pt-BR" sz="1400" dirty="0">
                <a:solidFill>
                  <a:srgbClr val="8BBBC4"/>
                </a:solidFill>
              </a:rPr>
              <a:t>Neuropsicologia II · Aula 03 — Envelhecimento normal do SN</a:t>
            </a:r>
          </a:p>
        </p:txBody>
      </p:sp>
      <p:sp>
        <p:nvSpPr>
          <p:cNvPr id="241" name="FooterRight"/>
          <p:cNvSpPr txBox="1"/>
          <p:nvPr/>
        </p:nvSpPr>
        <p:spPr>
          <a:xfrm>
            <a:off x="10464800" y="6426200"/>
            <a:ext cx="1270000" cy="25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>
              <a:buNone/>
            </a:pPr>
            <a:r>
              <a:rPr lang="pt-BR" sz="1400" dirty="0">
                <a:solidFill>
                  <a:srgbClr val="FBF7F0"/>
                </a:solidFill>
              </a:rPr>
              <a:t>76</a:t>
            </a:r>
          </a:p>
        </p:txBody>
      </p:sp>
      <p:sp>
        <p:nvSpPr>
          <p:cNvPr id="250" name="FooterLine"/>
          <p:cNvSpPr/>
          <p:nvPr/>
        </p:nvSpPr>
        <p:spPr>
          <a:xfrm>
            <a:off x="457200" y="6350000"/>
            <a:ext cx="11277600" cy="12700"/>
          </a:xfrm>
          <a:prstGeom prst="rect">
            <a:avLst/>
          </a:prstGeom>
          <a:solidFill>
            <a:srgbClr val="8BBBC4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3215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yebrow"/>
          <p:cNvSpPr txBox="1"/>
          <p:nvPr/>
        </p:nvSpPr>
        <p:spPr>
          <a:xfrm>
            <a:off x="457200" y="1016000"/>
            <a:ext cx="11277600" cy="355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E8A33D"/>
                </a:solidFill>
              </a:rPr>
              <a:t>TAKE-HOME · AULA 03</a:t>
            </a:r>
          </a:p>
        </p:txBody>
      </p:sp>
      <p:sp>
        <p:nvSpPr>
          <p:cNvPr id="61" name="Frase"/>
          <p:cNvSpPr txBox="1"/>
          <p:nvPr/>
        </p:nvSpPr>
        <p:spPr>
          <a:xfrm>
            <a:off x="762000" y="2286000"/>
            <a:ext cx="10668000" cy="177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3200" b="1" dirty="0">
                <a:solidFill>
                  <a:srgbClr val="FBF7F0"/>
                </a:solidFill>
              </a:rPr>
              <a:t>Declínio estrutural ≠ declínio inevitável do desempenho: há compensação.</a:t>
            </a:r>
          </a:p>
        </p:txBody>
      </p:sp>
      <p:sp>
        <p:nvSpPr>
          <p:cNvPr id="62" name="Linha"/>
          <p:cNvSpPr/>
          <p:nvPr/>
        </p:nvSpPr>
        <p:spPr>
          <a:xfrm>
            <a:off x="5461000" y="4445000"/>
            <a:ext cx="1270000" cy="38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pt-BR">
              <a:solidFill>
                <a:srgbClr val="17262B"/>
              </a:solidFill>
            </a:endParaRPr>
          </a:p>
        </p:txBody>
      </p:sp>
      <p:sp>
        <p:nvSpPr>
          <p:cNvPr id="63" name="Proxima"/>
          <p:cNvSpPr txBox="1"/>
          <p:nvPr/>
        </p:nvSpPr>
        <p:spPr>
          <a:xfrm>
            <a:off x="1016000" y="5080000"/>
            <a:ext cx="10160000" cy="635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E8A33D"/>
                </a:solidFill>
              </a:rPr>
              <a:t>Próxima aula →</a:t>
            </a:r>
            <a:r>
              <a:rPr lang="pt-BR" sz="1600" dirty="0">
                <a:solidFill>
                  <a:srgbClr val="8BBBC4"/>
                </a:solidFill>
              </a:rPr>
              <a:t> Aula 04</a:t>
            </a:r>
          </a:p>
        </p:txBody>
      </p:sp>
    </p:spTree>
    <p:extLst>
      <p:ext uri="{BB962C8B-B14F-4D97-AF65-F5344CB8AC3E}">
        <p14:creationId xmlns:p14="http://schemas.microsoft.com/office/powerpoint/2010/main" val="35587077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1822</Words>
  <Application>Microsoft Office PowerPoint</Application>
  <PresentationFormat>Widescreen</PresentationFormat>
  <Paragraphs>437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Objetivos da aula</vt:lpstr>
      <vt:lpstr>Roteiro da aula: os sistemas</vt:lpstr>
      <vt:lpstr>Apresentação do PowerPoint</vt:lpstr>
      <vt:lpstr>Três princípios da senescência sistêmica</vt:lpstr>
      <vt:lpstr>Sistema cardiovascular</vt:lpstr>
      <vt:lpstr>Sistemas respiratório e renal</vt:lpstr>
      <vt:lpstr>Sistema endócrino</vt:lpstr>
      <vt:lpstr>Sistema musculoesquelético</vt:lpstr>
      <vt:lpstr>Apresentação do PowerPoint</vt:lpstr>
      <vt:lpstr>Visão × Audição</vt:lpstr>
      <vt:lpstr>Apresentação do PowerPoint</vt:lpstr>
      <vt:lpstr>Apresentação do PowerPoint</vt:lpstr>
      <vt:lpstr>Fenótipo de fragilidade (Fried et al.)</vt:lpstr>
      <vt:lpstr>Fragilidade cognitiva</vt:lpstr>
      <vt:lpstr>Apresentação do PowerPoint</vt:lpstr>
      <vt:lpstr>Alterações farmacocinéticas e farmacodinâmicas</vt:lpstr>
      <vt:lpstr>Polifarmácia: alerta clínico</vt:lpstr>
      <vt:lpstr>Caso: a “confusão” que era o remédio</vt:lpstr>
      <vt:lpstr>Do sistêmico ao cérebro</vt:lpstr>
      <vt:lpstr>Apresentação do PowerPoint</vt:lpstr>
      <vt:lpstr>Implicações para a avaliação</vt:lpstr>
      <vt:lpstr>Recapitulando: sistema × repercussão cognitiva</vt:lpstr>
      <vt:lpstr>Apresentação do PowerPoint</vt:lpstr>
      <vt:lpstr>Apresentação do PowerPoint</vt:lpstr>
      <vt:lpstr>Apresentação do PowerPoint</vt:lpstr>
      <vt:lpstr>Objetivos da aula</vt:lpstr>
      <vt:lpstr>Roteiro da aula</vt:lpstr>
      <vt:lpstr>Apresentação do PowerPoint</vt:lpstr>
      <vt:lpstr>Neuroimagem esquemática: o que muda</vt:lpstr>
      <vt:lpstr>Regiões mais e menos vulneráveis</vt:lpstr>
      <vt:lpstr>Apresentação do PowerPoint</vt:lpstr>
      <vt:lpstr>Alterações microestruturais</vt:lpstr>
      <vt:lpstr>Substância cinzenta × substância branca</vt:lpstr>
      <vt:lpstr>Apresentação do PowerPoint</vt:lpstr>
      <vt:lpstr>Neurotransmissores no envelhecimento</vt:lpstr>
      <vt:lpstr>3 alvos neuroquímicos</vt:lpstr>
      <vt:lpstr>Apresentação do PowerPoint</vt:lpstr>
      <vt:lpstr>Apresentação do PowerPoint</vt:lpstr>
      <vt:lpstr>Três conceitos de reserva</vt:lpstr>
      <vt:lpstr>Compensação neural</vt:lpstr>
      <vt:lpstr>STAC: scaffolding da cognição envelhecida</vt:lpstr>
      <vt:lpstr>O que constrói reserva</vt:lpstr>
      <vt:lpstr>O paradoxo da reserva</vt:lpstr>
      <vt:lpstr>Apresentação do PowerPoint</vt:lpstr>
      <vt:lpstr>Recapitulando os 5 níveis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Peres Barbieri</dc:creator>
  <cp:lastModifiedBy>Andre Peres Barbieri</cp:lastModifiedBy>
  <cp:revision>2</cp:revision>
  <dcterms:created xsi:type="dcterms:W3CDTF">2026-08-11T14:16:26Z</dcterms:created>
  <dcterms:modified xsi:type="dcterms:W3CDTF">2026-08-11T14:23:49Z</dcterms:modified>
</cp:coreProperties>
</file>